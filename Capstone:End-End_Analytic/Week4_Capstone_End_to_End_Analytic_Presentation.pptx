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TextBox 1"/>
          <p:cNvSpPr txBox="1"/>
          <p:nvPr/>
        </p:nvSpPr>
        <p:spPr>
          <a:xfrm>
            <a:off x="822960" y="777240"/>
            <a:ext cx="4572000" cy="267766"/>
          </a:xfrm>
          <a:prstGeom prst="rect">
            <a:avLst/>
          </a:prstGeom>
          <a:noFill/>
        </p:spPr>
        <p:txBody>
          <a:bodyPr wrap="square" lIns="36576" tIns="18288" rIns="36576" bIns="18288">
            <a:spAutoFit/>
          </a:bodyPr>
          <a:lstStyle/>
          <a:p>
            <a:pPr algn="l">
              <a:defRPr sz="1500" b="1">
                <a:solidFill>
                  <a:srgbClr val="96CAE8"/>
                </a:solidFill>
                <a:latin typeface="Aptos"/>
              </a:defRPr>
            </a:pPr>
            <a:r>
              <a:rPr>
                <a:latin typeface="Times New Roman" panose="02020603050405020304" pitchFamily="18" charset="0"/>
                <a:cs typeface="Times New Roman" panose="02020603050405020304" pitchFamily="18" charset="0"/>
              </a:rPr>
              <a:t>WEEK 4 • TASK 4.4</a:t>
            </a:r>
          </a:p>
        </p:txBody>
      </p:sp>
      <p:sp>
        <p:nvSpPr>
          <p:cNvPr id="3" name="TextBox 2"/>
          <p:cNvSpPr txBox="1"/>
          <p:nvPr/>
        </p:nvSpPr>
        <p:spPr>
          <a:xfrm>
            <a:off x="822960" y="1417320"/>
            <a:ext cx="10698480" cy="1083374"/>
          </a:xfrm>
          <a:prstGeom prst="rect">
            <a:avLst/>
          </a:prstGeom>
          <a:noFill/>
        </p:spPr>
        <p:txBody>
          <a:bodyPr wrap="square" lIns="36576" tIns="18288" rIns="36576" bIns="18288">
            <a:spAutoFit/>
          </a:bodyPr>
          <a:lstStyle/>
          <a:p>
            <a:pPr algn="l">
              <a:defRPr sz="3400" b="1">
                <a:solidFill>
                  <a:srgbClr val="FFFFFF"/>
                </a:solidFill>
                <a:latin typeface="Aptos"/>
              </a:defRPr>
            </a:pPr>
            <a:r>
              <a:rPr>
                <a:latin typeface="Times New Roman" panose="02020603050405020304" pitchFamily="18" charset="0"/>
                <a:cs typeface="Times New Roman" panose="02020603050405020304" pitchFamily="18" charset="0"/>
              </a:rPr>
              <a:t>CAPSTONE: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END-TO-END ANALYTICS</a:t>
            </a:r>
          </a:p>
        </p:txBody>
      </p:sp>
      <p:sp>
        <p:nvSpPr>
          <p:cNvPr id="4" name="TextBox 3"/>
          <p:cNvSpPr txBox="1"/>
          <p:nvPr/>
        </p:nvSpPr>
        <p:spPr>
          <a:xfrm>
            <a:off x="868680" y="3154680"/>
            <a:ext cx="10424160" cy="344710"/>
          </a:xfrm>
          <a:prstGeom prst="rect">
            <a:avLst/>
          </a:prstGeom>
          <a:noFill/>
        </p:spPr>
        <p:txBody>
          <a:bodyPr wrap="square" lIns="36576" tIns="18288" rIns="36576" bIns="18288">
            <a:spAutoFit/>
          </a:bodyPr>
          <a:lstStyle/>
          <a:p>
            <a:pPr algn="l">
              <a:defRPr sz="2000" b="0">
                <a:solidFill>
                  <a:srgbClr val="DCE9F2"/>
                </a:solidFill>
                <a:latin typeface="Aptos"/>
              </a:defRPr>
            </a:pPr>
            <a:r>
              <a:rPr>
                <a:latin typeface="Times New Roman" panose="02020603050405020304" pitchFamily="18" charset="0"/>
                <a:cs typeface="Times New Roman" panose="02020603050405020304" pitchFamily="18" charset="0"/>
              </a:rPr>
              <a:t>Data Integration • Cleaning • Business Analysis • Dashboard Design</a:t>
            </a:r>
          </a:p>
        </p:txBody>
      </p:sp>
      <p:sp>
        <p:nvSpPr>
          <p:cNvPr id="5" name="Rectangle 4"/>
          <p:cNvSpPr/>
          <p:nvPr/>
        </p:nvSpPr>
        <p:spPr>
          <a:xfrm>
            <a:off x="868680" y="4160520"/>
            <a:ext cx="2926080" cy="73152"/>
          </a:xfrm>
          <a:prstGeom prst="rect">
            <a:avLst/>
          </a:prstGeom>
          <a:solidFill>
            <a:srgbClr val="3A7D5D"/>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868680" y="4572000"/>
            <a:ext cx="6400800" cy="298543"/>
          </a:xfrm>
          <a:prstGeom prst="rect">
            <a:avLst/>
          </a:prstGeom>
          <a:noFill/>
        </p:spPr>
        <p:txBody>
          <a:bodyPr wrap="square" lIns="36576" tIns="18288" rIns="36576" bIns="18288">
            <a:spAutoFit/>
          </a:bodyPr>
          <a:lstStyle/>
          <a:p>
            <a:pPr algn="l">
              <a:defRPr sz="1700" b="1">
                <a:solidFill>
                  <a:srgbClr val="FFFFFF"/>
                </a:solidFill>
                <a:latin typeface="Aptos"/>
              </a:defRPr>
            </a:pPr>
            <a:r>
              <a:rPr>
                <a:latin typeface="Times New Roman" panose="02020603050405020304" pitchFamily="18" charset="0"/>
                <a:cs typeface="Times New Roman" panose="02020603050405020304" pitchFamily="18" charset="0"/>
              </a:rPr>
              <a:t>Prepared by: Sona Kolle Marlyse</a:t>
            </a:r>
          </a:p>
        </p:txBody>
      </p:sp>
      <p:sp>
        <p:nvSpPr>
          <p:cNvPr id="7" name="TextBox 6"/>
          <p:cNvSpPr txBox="1"/>
          <p:nvPr/>
        </p:nvSpPr>
        <p:spPr>
          <a:xfrm>
            <a:off x="868680" y="5074920"/>
            <a:ext cx="9875520" cy="252377"/>
          </a:xfrm>
          <a:prstGeom prst="rect">
            <a:avLst/>
          </a:prstGeom>
          <a:noFill/>
        </p:spPr>
        <p:txBody>
          <a:bodyPr wrap="square" lIns="36576" tIns="18288" rIns="36576" bIns="18288">
            <a:spAutoFit/>
          </a:bodyPr>
          <a:lstStyle/>
          <a:p>
            <a:pPr algn="l">
              <a:defRPr sz="1400" b="0">
                <a:solidFill>
                  <a:srgbClr val="DCE9F2"/>
                </a:solidFill>
                <a:latin typeface="Aptos"/>
              </a:defRPr>
            </a:pPr>
            <a:r>
              <a:rPr dirty="0">
                <a:latin typeface="Times New Roman" panose="02020603050405020304" pitchFamily="18" charset="0"/>
                <a:cs typeface="Times New Roman" panose="02020603050405020304" pitchFamily="18" charset="0"/>
              </a:rPr>
              <a:t>Tools</a:t>
            </a:r>
            <a:r>
              <a:rPr lang="en-US" dirty="0">
                <a:latin typeface="Times New Roman" panose="02020603050405020304" pitchFamily="18" charset="0"/>
                <a:cs typeface="Times New Roman" panose="02020603050405020304" pitchFamily="18" charset="0"/>
              </a:rPr>
              <a:t> Used</a:t>
            </a:r>
            <a:r>
              <a:rPr dirty="0">
                <a:latin typeface="Times New Roman" panose="02020603050405020304" pitchFamily="18" charset="0"/>
                <a:cs typeface="Times New Roman" panose="02020603050405020304" pitchFamily="18" charset="0"/>
              </a:rPr>
              <a:t>: Python, pandas, NumPy, Jupyter Notebook, Power BI</a:t>
            </a:r>
          </a:p>
        </p:txBody>
      </p:sp>
      <p:sp>
        <p:nvSpPr>
          <p:cNvPr id="8" name="TextBox 7"/>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Project Overview</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What the capstone demonstrates</a:t>
            </a:r>
          </a:p>
        </p:txBody>
      </p:sp>
      <p:sp>
        <p:nvSpPr>
          <p:cNvPr id="4" name="TextBox 3"/>
          <p:cNvSpPr txBox="1"/>
          <p:nvPr/>
        </p:nvSpPr>
        <p:spPr>
          <a:xfrm>
            <a:off x="822960" y="1508760"/>
            <a:ext cx="10698480" cy="1938992"/>
          </a:xfrm>
          <a:prstGeom prst="rect">
            <a:avLst/>
          </a:prstGeom>
          <a:noFill/>
        </p:spPr>
        <p:txBody>
          <a:bodyPr wrap="square" lIns="73152" rIns="73152">
            <a:spAutoFit/>
          </a:bodyPr>
          <a:lstStyle/>
          <a:p>
            <a:pPr>
              <a:spcAft>
                <a:spcPts val="1600"/>
              </a:spcAft>
              <a:defRPr sz="2000">
                <a:solidFill>
                  <a:srgbClr val="263238"/>
                </a:solidFill>
                <a:latin typeface="Aptos"/>
              </a:defRPr>
            </a:pPr>
            <a:r>
              <a:rPr>
                <a:latin typeface="Times New Roman" panose="02020603050405020304" pitchFamily="18" charset="0"/>
                <a:cs typeface="Times New Roman" panose="02020603050405020304" pitchFamily="18" charset="0"/>
              </a:rPr>
              <a:t>•  Combine two source files: insurance_data.csv and sales_dataset.csv.</a:t>
            </a:r>
          </a:p>
          <a:p>
            <a:pPr>
              <a:spcAft>
                <a:spcPts val="1600"/>
              </a:spcAft>
              <a:defRPr sz="2000">
                <a:solidFill>
                  <a:srgbClr val="263238"/>
                </a:solidFill>
                <a:latin typeface="Aptos"/>
              </a:defRPr>
            </a:pPr>
            <a:r>
              <a:rPr>
                <a:latin typeface="Times New Roman" panose="02020603050405020304" pitchFamily="18" charset="0"/>
                <a:cs typeface="Times New Roman" panose="02020603050405020304" pitchFamily="18" charset="0"/>
              </a:rPr>
              <a:t>•  Inspect the integrated dataset for structure, data types, missing values and duplicate rows.</a:t>
            </a:r>
          </a:p>
          <a:p>
            <a:pPr>
              <a:spcAft>
                <a:spcPts val="1600"/>
              </a:spcAft>
              <a:defRPr sz="2000">
                <a:solidFill>
                  <a:srgbClr val="263238"/>
                </a:solidFill>
                <a:latin typeface="Aptos"/>
              </a:defRPr>
            </a:pPr>
            <a:r>
              <a:rPr>
                <a:latin typeface="Times New Roman" panose="02020603050405020304" pitchFamily="18" charset="0"/>
                <a:cs typeface="Times New Roman" panose="02020603050405020304" pitchFamily="18" charset="0"/>
              </a:rPr>
              <a:t>•  Apply reusable cleaning and transformation steps in Python.</a:t>
            </a:r>
          </a:p>
          <a:p>
            <a:pPr>
              <a:spcAft>
                <a:spcPts val="1600"/>
              </a:spcAft>
              <a:defRPr sz="2000">
                <a:solidFill>
                  <a:srgbClr val="263238"/>
                </a:solidFill>
                <a:latin typeface="Aptos"/>
              </a:defRPr>
            </a:pPr>
            <a:r>
              <a:rPr>
                <a:latin typeface="Times New Roman" panose="02020603050405020304" pitchFamily="18" charset="0"/>
                <a:cs typeface="Times New Roman" panose="02020603050405020304" pitchFamily="18" charset="0"/>
              </a:rPr>
              <a:t>•  Export a cleaned dataset for business analysis and dashboarding.</a:t>
            </a:r>
          </a:p>
        </p:txBody>
      </p:sp>
      <p:sp>
        <p:nvSpPr>
          <p:cNvPr id="5" name="TextBox 4"/>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Tools &amp; Technologies</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Role of each tool in the workflow</a:t>
            </a:r>
          </a:p>
        </p:txBody>
      </p:sp>
      <p:sp>
        <p:nvSpPr>
          <p:cNvPr id="4" name="Rounded Rectangle 3"/>
          <p:cNvSpPr/>
          <p:nvPr/>
        </p:nvSpPr>
        <p:spPr>
          <a:xfrm>
            <a:off x="822960" y="1417320"/>
            <a:ext cx="2377440" cy="566928"/>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932688" y="1536192"/>
            <a:ext cx="21488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Python</a:t>
            </a:r>
          </a:p>
        </p:txBody>
      </p:sp>
      <p:sp>
        <p:nvSpPr>
          <p:cNvPr id="6" name="TextBox 5"/>
          <p:cNvSpPr txBox="1"/>
          <p:nvPr/>
        </p:nvSpPr>
        <p:spPr>
          <a:xfrm>
            <a:off x="3520440" y="1490472"/>
            <a:ext cx="7589520" cy="298543"/>
          </a:xfrm>
          <a:prstGeom prst="rect">
            <a:avLst/>
          </a:prstGeom>
          <a:noFill/>
        </p:spPr>
        <p:txBody>
          <a:bodyPr wrap="square" lIns="36576" tIns="18288" rIns="36576" bIns="18288">
            <a:spAutoFit/>
          </a:bodyPr>
          <a:lstStyle/>
          <a:p>
            <a:pPr algn="l">
              <a:defRPr sz="1700" b="0">
                <a:solidFill>
                  <a:srgbClr val="263238"/>
                </a:solidFill>
                <a:latin typeface="Aptos"/>
              </a:defRPr>
            </a:pPr>
            <a:r>
              <a:rPr dirty="0">
                <a:latin typeface="Times New Roman" panose="02020603050405020304" pitchFamily="18" charset="0"/>
                <a:cs typeface="Times New Roman" panose="02020603050405020304" pitchFamily="18" charset="0"/>
              </a:rPr>
              <a:t>Runs the data preparation workflow</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822960" y="2286000"/>
            <a:ext cx="2377440" cy="566928"/>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932688" y="2404872"/>
            <a:ext cx="21488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pandas</a:t>
            </a:r>
          </a:p>
        </p:txBody>
      </p:sp>
      <p:sp>
        <p:nvSpPr>
          <p:cNvPr id="9" name="TextBox 8"/>
          <p:cNvSpPr txBox="1"/>
          <p:nvPr/>
        </p:nvSpPr>
        <p:spPr>
          <a:xfrm>
            <a:off x="3520440" y="2359152"/>
            <a:ext cx="7589520" cy="298543"/>
          </a:xfrm>
          <a:prstGeom prst="rect">
            <a:avLst/>
          </a:prstGeom>
          <a:noFill/>
        </p:spPr>
        <p:txBody>
          <a:bodyPr wrap="square" lIns="36576" tIns="18288" rIns="36576" bIns="18288">
            <a:spAutoFit/>
          </a:bodyPr>
          <a:lstStyle/>
          <a:p>
            <a:pPr algn="l">
              <a:defRPr sz="1700" b="0">
                <a:solidFill>
                  <a:srgbClr val="263238"/>
                </a:solidFill>
                <a:latin typeface="Aptos"/>
              </a:defRPr>
            </a:pPr>
            <a:r>
              <a:rPr dirty="0">
                <a:latin typeface="Times New Roman" panose="02020603050405020304" pitchFamily="18" charset="0"/>
                <a:cs typeface="Times New Roman" panose="02020603050405020304" pitchFamily="18" charset="0"/>
              </a:rPr>
              <a:t>Loads, joins, inspects, transforms and exports data</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0" name="Rounded Rectangle 9"/>
          <p:cNvSpPr/>
          <p:nvPr/>
        </p:nvSpPr>
        <p:spPr>
          <a:xfrm>
            <a:off x="822960" y="3154680"/>
            <a:ext cx="2377440" cy="566928"/>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932688" y="3273552"/>
            <a:ext cx="21488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NumPy</a:t>
            </a:r>
          </a:p>
        </p:txBody>
      </p:sp>
      <p:sp>
        <p:nvSpPr>
          <p:cNvPr id="12" name="TextBox 11"/>
          <p:cNvSpPr txBox="1"/>
          <p:nvPr/>
        </p:nvSpPr>
        <p:spPr>
          <a:xfrm>
            <a:off x="3520440" y="3227832"/>
            <a:ext cx="7589520" cy="298543"/>
          </a:xfrm>
          <a:prstGeom prst="rect">
            <a:avLst/>
          </a:prstGeom>
          <a:noFill/>
        </p:spPr>
        <p:txBody>
          <a:bodyPr wrap="square" lIns="36576" tIns="18288" rIns="36576" bIns="18288">
            <a:spAutoFit/>
          </a:bodyPr>
          <a:lstStyle/>
          <a:p>
            <a:pPr algn="l">
              <a:defRPr sz="1700" b="0">
                <a:solidFill>
                  <a:srgbClr val="263238"/>
                </a:solidFill>
                <a:latin typeface="Aptos"/>
              </a:defRPr>
            </a:pPr>
            <a:r>
              <a:rPr dirty="0">
                <a:latin typeface="Times New Roman" panose="02020603050405020304" pitchFamily="18" charset="0"/>
                <a:cs typeface="Times New Roman" panose="02020603050405020304" pitchFamily="18" charset="0"/>
              </a:rPr>
              <a:t>Supports numerical work in the notebook</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3" name="Rounded Rectangle 12"/>
          <p:cNvSpPr/>
          <p:nvPr/>
        </p:nvSpPr>
        <p:spPr>
          <a:xfrm>
            <a:off x="822960" y="4023359"/>
            <a:ext cx="2377440" cy="566928"/>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3"/>
          <p:cNvSpPr txBox="1"/>
          <p:nvPr/>
        </p:nvSpPr>
        <p:spPr>
          <a:xfrm>
            <a:off x="932688" y="4142231"/>
            <a:ext cx="21488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Jupyter Notebook</a:t>
            </a:r>
          </a:p>
        </p:txBody>
      </p:sp>
      <p:sp>
        <p:nvSpPr>
          <p:cNvPr id="15" name="TextBox 14"/>
          <p:cNvSpPr txBox="1"/>
          <p:nvPr/>
        </p:nvSpPr>
        <p:spPr>
          <a:xfrm>
            <a:off x="3520440" y="4096511"/>
            <a:ext cx="7589520" cy="298543"/>
          </a:xfrm>
          <a:prstGeom prst="rect">
            <a:avLst/>
          </a:prstGeom>
          <a:noFill/>
        </p:spPr>
        <p:txBody>
          <a:bodyPr wrap="square" lIns="36576" tIns="18288" rIns="36576" bIns="18288">
            <a:spAutoFit/>
          </a:bodyPr>
          <a:lstStyle/>
          <a:p>
            <a:pPr algn="l">
              <a:defRPr sz="1700" b="0">
                <a:solidFill>
                  <a:srgbClr val="263238"/>
                </a:solidFill>
                <a:latin typeface="Aptos"/>
              </a:defRPr>
            </a:pPr>
            <a:r>
              <a:rPr dirty="0">
                <a:latin typeface="Times New Roman" panose="02020603050405020304" pitchFamily="18" charset="0"/>
                <a:cs typeface="Times New Roman" panose="02020603050405020304" pitchFamily="18" charset="0"/>
              </a:rPr>
              <a:t>Documents and executes pipeline steps</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822960" y="4892040"/>
            <a:ext cx="2377440" cy="566928"/>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6"/>
          <p:cNvSpPr txBox="1"/>
          <p:nvPr/>
        </p:nvSpPr>
        <p:spPr>
          <a:xfrm>
            <a:off x="932688" y="5010912"/>
            <a:ext cx="21488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Power BI</a:t>
            </a:r>
          </a:p>
        </p:txBody>
      </p:sp>
      <p:sp>
        <p:nvSpPr>
          <p:cNvPr id="18" name="TextBox 17"/>
          <p:cNvSpPr txBox="1"/>
          <p:nvPr/>
        </p:nvSpPr>
        <p:spPr>
          <a:xfrm>
            <a:off x="3520440" y="4965192"/>
            <a:ext cx="7589520" cy="298543"/>
          </a:xfrm>
          <a:prstGeom prst="rect">
            <a:avLst/>
          </a:prstGeom>
          <a:noFill/>
        </p:spPr>
        <p:txBody>
          <a:bodyPr wrap="square" lIns="36576" tIns="18288" rIns="36576" bIns="18288">
            <a:spAutoFit/>
          </a:bodyPr>
          <a:lstStyle/>
          <a:p>
            <a:pPr algn="l">
              <a:defRPr sz="1700" b="0">
                <a:solidFill>
                  <a:srgbClr val="263238"/>
                </a:solidFill>
                <a:latin typeface="Aptos"/>
              </a:defRPr>
            </a:pPr>
            <a:r>
              <a:rPr dirty="0">
                <a:latin typeface="Times New Roman" panose="02020603050405020304" pitchFamily="18" charset="0"/>
                <a:cs typeface="Times New Roman" panose="02020603050405020304" pitchFamily="18" charset="0"/>
              </a:rPr>
              <a:t>Presents business metrics and interactive visuals</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square" lIns="36576" tIns="18288" rIns="36576" bIns="18288">
            <a:spAutoFit/>
          </a:bodyPr>
          <a:lstStyle/>
          <a:p>
            <a:pPr algn="l">
              <a:defRPr sz="2800" b="1">
                <a:solidFill>
                  <a:srgbClr val="17324D"/>
                </a:solidFill>
                <a:latin typeface="Aptos"/>
              </a:defRPr>
            </a:pPr>
            <a:r>
              <a:t>End-to-End Analytics Pipeline</a:t>
            </a:r>
          </a:p>
        </p:txBody>
      </p:sp>
      <p:sp>
        <p:nvSpPr>
          <p:cNvPr id="3" name="TextBox 2"/>
          <p:cNvSpPr txBox="1"/>
          <p:nvPr/>
        </p:nvSpPr>
        <p:spPr>
          <a:xfrm>
            <a:off x="621792" y="868680"/>
            <a:ext cx="10789920" cy="320040"/>
          </a:xfrm>
          <a:prstGeom prst="rect">
            <a:avLst/>
          </a:prstGeom>
          <a:noFill/>
        </p:spPr>
        <p:txBody>
          <a:bodyPr wrap="square" lIns="36576" tIns="18288" rIns="36576" bIns="18288">
            <a:spAutoFit/>
          </a:bodyPr>
          <a:lstStyle/>
          <a:p>
            <a:pPr algn="l">
              <a:defRPr sz="1200" b="0">
                <a:solidFill>
                  <a:srgbClr val="526777"/>
                </a:solidFill>
                <a:latin typeface="Aptos"/>
              </a:defRPr>
            </a:pPr>
            <a:r>
              <a:t>From raw sources to reporting</a:t>
            </a:r>
          </a:p>
        </p:txBody>
      </p:sp>
      <p:sp>
        <p:nvSpPr>
          <p:cNvPr id="4" name="Rounded Rectangle 3"/>
          <p:cNvSpPr/>
          <p:nvPr/>
        </p:nvSpPr>
        <p:spPr>
          <a:xfrm>
            <a:off x="594360" y="1600200"/>
            <a:ext cx="2423160" cy="1097280"/>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691640"/>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1</a:t>
            </a:r>
          </a:p>
        </p:txBody>
      </p:sp>
      <p:sp>
        <p:nvSpPr>
          <p:cNvPr id="6" name="TextBox 5"/>
          <p:cNvSpPr txBox="1"/>
          <p:nvPr/>
        </p:nvSpPr>
        <p:spPr>
          <a:xfrm>
            <a:off x="1051560" y="17099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Load CSVs</a:t>
            </a:r>
          </a:p>
        </p:txBody>
      </p:sp>
      <p:sp>
        <p:nvSpPr>
          <p:cNvPr id="7" name="TextBox 6"/>
          <p:cNvSpPr txBox="1"/>
          <p:nvPr/>
        </p:nvSpPr>
        <p:spPr>
          <a:xfrm>
            <a:off x="740664" y="21305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Insurance + sales</a:t>
            </a:r>
          </a:p>
        </p:txBody>
      </p:sp>
      <p:sp>
        <p:nvSpPr>
          <p:cNvPr id="8" name="Rounded Rectangle 7"/>
          <p:cNvSpPr/>
          <p:nvPr/>
        </p:nvSpPr>
        <p:spPr>
          <a:xfrm>
            <a:off x="3474720" y="1600200"/>
            <a:ext cx="2423160" cy="1097280"/>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84448" y="1691640"/>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2</a:t>
            </a:r>
          </a:p>
        </p:txBody>
      </p:sp>
      <p:sp>
        <p:nvSpPr>
          <p:cNvPr id="10" name="TextBox 9"/>
          <p:cNvSpPr txBox="1"/>
          <p:nvPr/>
        </p:nvSpPr>
        <p:spPr>
          <a:xfrm>
            <a:off x="3931920" y="17099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Preview</a:t>
            </a:r>
          </a:p>
        </p:txBody>
      </p:sp>
      <p:sp>
        <p:nvSpPr>
          <p:cNvPr id="11" name="TextBox 10"/>
          <p:cNvSpPr txBox="1"/>
          <p:nvPr/>
        </p:nvSpPr>
        <p:spPr>
          <a:xfrm>
            <a:off x="3621024" y="21305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head()</a:t>
            </a:r>
          </a:p>
        </p:txBody>
      </p:sp>
      <p:sp>
        <p:nvSpPr>
          <p:cNvPr id="12" name="Rounded Rectangle 11"/>
          <p:cNvSpPr/>
          <p:nvPr/>
        </p:nvSpPr>
        <p:spPr>
          <a:xfrm>
            <a:off x="6355080" y="1600200"/>
            <a:ext cx="2423160" cy="1097280"/>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8" y="1691640"/>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3</a:t>
            </a:r>
          </a:p>
        </p:txBody>
      </p:sp>
      <p:sp>
        <p:nvSpPr>
          <p:cNvPr id="14" name="TextBox 13"/>
          <p:cNvSpPr txBox="1"/>
          <p:nvPr/>
        </p:nvSpPr>
        <p:spPr>
          <a:xfrm>
            <a:off x="6812280" y="17099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Integrate</a:t>
            </a:r>
          </a:p>
        </p:txBody>
      </p:sp>
      <p:sp>
        <p:nvSpPr>
          <p:cNvPr id="15" name="TextBox 14"/>
          <p:cNvSpPr txBox="1"/>
          <p:nvPr/>
        </p:nvSpPr>
        <p:spPr>
          <a:xfrm>
            <a:off x="6501384" y="21305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Cross join</a:t>
            </a:r>
          </a:p>
        </p:txBody>
      </p:sp>
      <p:sp>
        <p:nvSpPr>
          <p:cNvPr id="16" name="Rounded Rectangle 15"/>
          <p:cNvSpPr/>
          <p:nvPr/>
        </p:nvSpPr>
        <p:spPr>
          <a:xfrm>
            <a:off x="9235440" y="1600200"/>
            <a:ext cx="2423160" cy="1097280"/>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45167" y="1691640"/>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4</a:t>
            </a:r>
          </a:p>
        </p:txBody>
      </p:sp>
      <p:sp>
        <p:nvSpPr>
          <p:cNvPr id="18" name="TextBox 17"/>
          <p:cNvSpPr txBox="1"/>
          <p:nvPr/>
        </p:nvSpPr>
        <p:spPr>
          <a:xfrm>
            <a:off x="9692640" y="17099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Inspect</a:t>
            </a:r>
          </a:p>
        </p:txBody>
      </p:sp>
      <p:sp>
        <p:nvSpPr>
          <p:cNvPr id="19" name="TextBox 18"/>
          <p:cNvSpPr txBox="1"/>
          <p:nvPr/>
        </p:nvSpPr>
        <p:spPr>
          <a:xfrm>
            <a:off x="9381744" y="21305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shape, info, nulls, duplicates</a:t>
            </a:r>
          </a:p>
        </p:txBody>
      </p:sp>
      <p:sp>
        <p:nvSpPr>
          <p:cNvPr id="20" name="Rounded Rectangle 19"/>
          <p:cNvSpPr/>
          <p:nvPr/>
        </p:nvSpPr>
        <p:spPr>
          <a:xfrm>
            <a:off x="594360" y="3657600"/>
            <a:ext cx="2423160" cy="1097280"/>
          </a:xfrm>
          <a:prstGeom prst="roundRect">
            <a:avLst/>
          </a:prstGeom>
          <a:solidFill>
            <a:srgbClr val="EBF6EF"/>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3749039"/>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5</a:t>
            </a:r>
          </a:p>
        </p:txBody>
      </p:sp>
      <p:sp>
        <p:nvSpPr>
          <p:cNvPr id="22" name="TextBox 21"/>
          <p:cNvSpPr txBox="1"/>
          <p:nvPr/>
        </p:nvSpPr>
        <p:spPr>
          <a:xfrm>
            <a:off x="1051560" y="37673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Clean</a:t>
            </a:r>
          </a:p>
        </p:txBody>
      </p:sp>
      <p:sp>
        <p:nvSpPr>
          <p:cNvPr id="23" name="TextBox 22"/>
          <p:cNvSpPr txBox="1"/>
          <p:nvPr/>
        </p:nvSpPr>
        <p:spPr>
          <a:xfrm>
            <a:off x="740664" y="41879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standardize, de-duplicate, drop missing</a:t>
            </a:r>
          </a:p>
        </p:txBody>
      </p:sp>
      <p:sp>
        <p:nvSpPr>
          <p:cNvPr id="24" name="Rounded Rectangle 23"/>
          <p:cNvSpPr/>
          <p:nvPr/>
        </p:nvSpPr>
        <p:spPr>
          <a:xfrm>
            <a:off x="3474720" y="3657600"/>
            <a:ext cx="2423160" cy="1097280"/>
          </a:xfrm>
          <a:prstGeom prst="roundRect">
            <a:avLst/>
          </a:prstGeom>
          <a:solidFill>
            <a:srgbClr val="EBF6EF"/>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84448" y="3749039"/>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6</a:t>
            </a:r>
          </a:p>
        </p:txBody>
      </p:sp>
      <p:sp>
        <p:nvSpPr>
          <p:cNvPr id="26" name="TextBox 25"/>
          <p:cNvSpPr txBox="1"/>
          <p:nvPr/>
        </p:nvSpPr>
        <p:spPr>
          <a:xfrm>
            <a:off x="3931920" y="37673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Export</a:t>
            </a:r>
          </a:p>
        </p:txBody>
      </p:sp>
      <p:sp>
        <p:nvSpPr>
          <p:cNvPr id="27" name="TextBox 26"/>
          <p:cNvSpPr txBox="1"/>
          <p:nvPr/>
        </p:nvSpPr>
        <p:spPr>
          <a:xfrm>
            <a:off x="3621024" y="41879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cleaned CSV</a:t>
            </a:r>
          </a:p>
        </p:txBody>
      </p:sp>
      <p:sp>
        <p:nvSpPr>
          <p:cNvPr id="28" name="Rounded Rectangle 27"/>
          <p:cNvSpPr/>
          <p:nvPr/>
        </p:nvSpPr>
        <p:spPr>
          <a:xfrm>
            <a:off x="6355080" y="3657600"/>
            <a:ext cx="2423160" cy="1097280"/>
          </a:xfrm>
          <a:prstGeom prst="roundRect">
            <a:avLst/>
          </a:prstGeom>
          <a:solidFill>
            <a:srgbClr val="EBF6EF"/>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64808" y="3749039"/>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7</a:t>
            </a:r>
          </a:p>
        </p:txBody>
      </p:sp>
      <p:sp>
        <p:nvSpPr>
          <p:cNvPr id="30" name="TextBox 29"/>
          <p:cNvSpPr txBox="1"/>
          <p:nvPr/>
        </p:nvSpPr>
        <p:spPr>
          <a:xfrm>
            <a:off x="6812280" y="37673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Analyze</a:t>
            </a:r>
          </a:p>
        </p:txBody>
      </p:sp>
      <p:sp>
        <p:nvSpPr>
          <p:cNvPr id="31" name="TextBox 30"/>
          <p:cNvSpPr txBox="1"/>
          <p:nvPr/>
        </p:nvSpPr>
        <p:spPr>
          <a:xfrm>
            <a:off x="6501384" y="41879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KPIs + comparisons</a:t>
            </a:r>
          </a:p>
        </p:txBody>
      </p:sp>
      <p:sp>
        <p:nvSpPr>
          <p:cNvPr id="32" name="Rounded Rectangle 31"/>
          <p:cNvSpPr/>
          <p:nvPr/>
        </p:nvSpPr>
        <p:spPr>
          <a:xfrm>
            <a:off x="9235440" y="3657600"/>
            <a:ext cx="2423160" cy="1097280"/>
          </a:xfrm>
          <a:prstGeom prst="roundRect">
            <a:avLst/>
          </a:prstGeom>
          <a:solidFill>
            <a:srgbClr val="EBF6EF"/>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45167" y="3749039"/>
            <a:ext cx="320040" cy="274320"/>
          </a:xfrm>
          <a:prstGeom prst="rect">
            <a:avLst/>
          </a:prstGeom>
          <a:noFill/>
        </p:spPr>
        <p:txBody>
          <a:bodyPr wrap="square" lIns="36576" tIns="18288" rIns="36576" bIns="18288">
            <a:spAutoFit/>
          </a:bodyPr>
          <a:lstStyle/>
          <a:p>
            <a:pPr algn="l">
              <a:defRPr sz="1500" b="1">
                <a:solidFill>
                  <a:srgbClr val="2F75B5"/>
                </a:solidFill>
                <a:latin typeface="Aptos"/>
              </a:defRPr>
            </a:pPr>
            <a:r>
              <a:t>8</a:t>
            </a:r>
          </a:p>
        </p:txBody>
      </p:sp>
      <p:sp>
        <p:nvSpPr>
          <p:cNvPr id="34" name="TextBox 33"/>
          <p:cNvSpPr txBox="1"/>
          <p:nvPr/>
        </p:nvSpPr>
        <p:spPr>
          <a:xfrm>
            <a:off x="9692640" y="3767328"/>
            <a:ext cx="1828800" cy="274320"/>
          </a:xfrm>
          <a:prstGeom prst="rect">
            <a:avLst/>
          </a:prstGeom>
          <a:noFill/>
        </p:spPr>
        <p:txBody>
          <a:bodyPr wrap="square" lIns="36576" tIns="18288" rIns="36576" bIns="18288">
            <a:spAutoFit/>
          </a:bodyPr>
          <a:lstStyle/>
          <a:p>
            <a:pPr algn="l">
              <a:defRPr sz="1700" b="1">
                <a:solidFill>
                  <a:srgbClr val="17324D"/>
                </a:solidFill>
                <a:latin typeface="Aptos"/>
              </a:defRPr>
            </a:pPr>
            <a:r>
              <a:t>Present</a:t>
            </a:r>
          </a:p>
        </p:txBody>
      </p:sp>
      <p:sp>
        <p:nvSpPr>
          <p:cNvPr id="35" name="TextBox 34"/>
          <p:cNvSpPr txBox="1"/>
          <p:nvPr/>
        </p:nvSpPr>
        <p:spPr>
          <a:xfrm>
            <a:off x="9381744" y="4187952"/>
            <a:ext cx="2148840" cy="438912"/>
          </a:xfrm>
          <a:prstGeom prst="rect">
            <a:avLst/>
          </a:prstGeom>
          <a:noFill/>
        </p:spPr>
        <p:txBody>
          <a:bodyPr wrap="square" lIns="36576" tIns="18288" rIns="36576" bIns="18288">
            <a:spAutoFit/>
          </a:bodyPr>
          <a:lstStyle/>
          <a:p>
            <a:pPr algn="ctr">
              <a:defRPr sz="1200" b="0">
                <a:solidFill>
                  <a:srgbClr val="263238"/>
                </a:solidFill>
                <a:latin typeface="Aptos"/>
              </a:defRPr>
            </a:pPr>
            <a:r>
              <a:t>Power BI dashboard</a:t>
            </a:r>
          </a:p>
        </p:txBody>
      </p:sp>
      <p:sp>
        <p:nvSpPr>
          <p:cNvPr id="36" name="TextBox 35"/>
          <p:cNvSpPr txBox="1"/>
          <p:nvPr/>
        </p:nvSpPr>
        <p:spPr>
          <a:xfrm>
            <a:off x="731520" y="5897880"/>
            <a:ext cx="10881360" cy="411480"/>
          </a:xfrm>
          <a:prstGeom prst="rect">
            <a:avLst/>
          </a:prstGeom>
          <a:noFill/>
        </p:spPr>
        <p:txBody>
          <a:bodyPr wrap="square" lIns="36576" tIns="18288" rIns="36576" bIns="18288">
            <a:spAutoFit/>
          </a:bodyPr>
          <a:lstStyle/>
          <a:p>
            <a:pPr algn="l">
              <a:defRPr sz="1200" b="0">
                <a:solidFill>
                  <a:srgbClr val="526777"/>
                </a:solidFill>
                <a:latin typeface="Aptos"/>
              </a:defRPr>
            </a:pPr>
            <a:r>
              <a:t>Note: The notebook uses a cross join because it states the datasets have no common keys. Validate that this is the intended business logic.</a:t>
            </a:r>
          </a:p>
        </p:txBody>
      </p:sp>
      <p:sp>
        <p:nvSpPr>
          <p:cNvPr id="37" name="TextBox 36"/>
          <p:cNvSpPr txBox="1"/>
          <p:nvPr/>
        </p:nvSpPr>
        <p:spPr>
          <a:xfrm>
            <a:off x="594360" y="6510528"/>
            <a:ext cx="10972800" cy="182880"/>
          </a:xfrm>
          <a:prstGeom prst="rect">
            <a:avLst/>
          </a:prstGeom>
          <a:noFill/>
        </p:spPr>
        <p:txBody>
          <a:bodyPr wrap="square" lIns="36576" tIns="18288" rIns="36576" bIns="18288">
            <a:spAutoFit/>
          </a:bodyPr>
          <a:lstStyle/>
          <a:p>
            <a:pPr algn="l">
              <a:defRPr sz="900" b="0">
                <a:solidFill>
                  <a:srgbClr val="526777"/>
                </a:solidFill>
                <a:latin typeface="Aptos"/>
              </a:defRPr>
            </a:pPr>
            <a:r>
              <a:t>WEEK 4 CAPSTONE  |  END-TO-END ANALYTICS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Data Cleaning &amp; Quality Checks</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Reusable cleaning function</a:t>
            </a:r>
          </a:p>
        </p:txBody>
      </p:sp>
      <p:sp>
        <p:nvSpPr>
          <p:cNvPr id="4" name="TextBox 3"/>
          <p:cNvSpPr txBox="1"/>
          <p:nvPr/>
        </p:nvSpPr>
        <p:spPr>
          <a:xfrm>
            <a:off x="822960" y="1508760"/>
            <a:ext cx="10698480" cy="2375009"/>
          </a:xfrm>
          <a:prstGeom prst="rect">
            <a:avLst/>
          </a:prstGeom>
          <a:noFill/>
        </p:spPr>
        <p:txBody>
          <a:bodyPr wrap="square" lIns="73152" rIns="73152">
            <a:spAutoFit/>
          </a:bodyPr>
          <a:lstStyle/>
          <a:p>
            <a:pPr>
              <a:spcAft>
                <a:spcPts val="1600"/>
              </a:spcAft>
              <a:defRPr sz="1900">
                <a:solidFill>
                  <a:srgbClr val="263238"/>
                </a:solidFill>
                <a:latin typeface="Aptos"/>
              </a:defRPr>
            </a:pPr>
            <a:r>
              <a:rPr>
                <a:latin typeface="Times New Roman" panose="02020603050405020304" pitchFamily="18" charset="0"/>
                <a:cs typeface="Times New Roman" panose="02020603050405020304" pitchFamily="18" charset="0"/>
              </a:rPr>
              <a:t>•  Standardize column names to lowercase with underscores.</a:t>
            </a:r>
          </a:p>
          <a:p>
            <a:pPr>
              <a:spcAft>
                <a:spcPts val="1600"/>
              </a:spcAft>
              <a:defRPr sz="1900">
                <a:solidFill>
                  <a:srgbClr val="263238"/>
                </a:solidFill>
                <a:latin typeface="Aptos"/>
              </a:defRPr>
            </a:pPr>
            <a:r>
              <a:rPr>
                <a:latin typeface="Times New Roman" panose="02020603050405020304" pitchFamily="18" charset="0"/>
                <a:cs typeface="Times New Roman" panose="02020603050405020304" pitchFamily="18" charset="0"/>
              </a:rPr>
              <a:t>•  Convert customer_id to text when the column exists.</a:t>
            </a:r>
          </a:p>
          <a:p>
            <a:pPr>
              <a:spcAft>
                <a:spcPts val="1600"/>
              </a:spcAft>
              <a:defRPr sz="1900">
                <a:solidFill>
                  <a:srgbClr val="263238"/>
                </a:solidFill>
                <a:latin typeface="Aptos"/>
              </a:defRPr>
            </a:pPr>
            <a:r>
              <a:rPr>
                <a:latin typeface="Times New Roman" panose="02020603050405020304" pitchFamily="18" charset="0"/>
                <a:cs typeface="Times New Roman" panose="02020603050405020304" pitchFamily="18" charset="0"/>
              </a:rPr>
              <a:t>•  Remove duplicate rows and drop rows containing missing values.</a:t>
            </a:r>
          </a:p>
          <a:p>
            <a:pPr>
              <a:spcAft>
                <a:spcPts val="1600"/>
              </a:spcAft>
              <a:defRPr sz="1900">
                <a:solidFill>
                  <a:srgbClr val="263238"/>
                </a:solidFill>
                <a:latin typeface="Aptos"/>
              </a:defRPr>
            </a:pPr>
            <a:r>
              <a:rPr>
                <a:latin typeface="Times New Roman" panose="02020603050405020304" pitchFamily="18" charset="0"/>
                <a:cs typeface="Times New Roman" panose="02020603050405020304" pitchFamily="18" charset="0"/>
              </a:rPr>
              <a:t>•  Cleaned dataset profile: 312 rows and 11 columns.</a:t>
            </a:r>
          </a:p>
          <a:p>
            <a:pPr>
              <a:spcAft>
                <a:spcPts val="1600"/>
              </a:spcAft>
              <a:defRPr sz="1900">
                <a:solidFill>
                  <a:srgbClr val="263238"/>
                </a:solidFill>
                <a:latin typeface="Aptos"/>
              </a:defRPr>
            </a:pPr>
            <a:r>
              <a:rPr>
                <a:latin typeface="Times New Roman" panose="02020603050405020304" pitchFamily="18" charset="0"/>
                <a:cs typeface="Times New Roman" panose="02020603050405020304" pitchFamily="18" charset="0"/>
              </a:rPr>
              <a:t>•  Remaining missing cells: 0; duplicate rows: 0.</a:t>
            </a:r>
          </a:p>
        </p:txBody>
      </p:sp>
      <p:sp>
        <p:nvSpPr>
          <p:cNvPr id="5" name="TextBox 4"/>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Business Performance at a Glance</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Summary metrics from the supplied cleaned dataset</a:t>
            </a:r>
          </a:p>
        </p:txBody>
      </p:sp>
      <p:sp>
        <p:nvSpPr>
          <p:cNvPr id="4" name="Rounded Rectangle 3"/>
          <p:cNvSpPr/>
          <p:nvPr/>
        </p:nvSpPr>
        <p:spPr>
          <a:xfrm>
            <a:off x="685800" y="1828800"/>
            <a:ext cx="2468880" cy="1325880"/>
          </a:xfrm>
          <a:prstGeom prst="roundRect">
            <a:avLst/>
          </a:prstGeom>
          <a:solidFill>
            <a:srgbClr val="2F75B5"/>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95528" y="2084831"/>
            <a:ext cx="2240280" cy="236988"/>
          </a:xfrm>
          <a:prstGeom prst="rect">
            <a:avLst/>
          </a:prstGeom>
          <a:noFill/>
        </p:spPr>
        <p:txBody>
          <a:bodyPr wrap="square" lIns="36576" tIns="18288" rIns="36576" bIns="18288">
            <a:spAutoFit/>
          </a:bodyPr>
          <a:lstStyle/>
          <a:p>
            <a:pPr algn="ctr">
              <a:defRPr sz="1300" b="1">
                <a:solidFill>
                  <a:srgbClr val="FFFFFF"/>
                </a:solidFill>
                <a:latin typeface="Aptos"/>
              </a:defRPr>
            </a:pPr>
            <a:r>
              <a:rPr>
                <a:latin typeface="Times New Roman" panose="02020603050405020304" pitchFamily="18" charset="0"/>
                <a:cs typeface="Times New Roman" panose="02020603050405020304" pitchFamily="18" charset="0"/>
              </a:rPr>
              <a:t>TOTAL SALES</a:t>
            </a:r>
          </a:p>
        </p:txBody>
      </p:sp>
      <p:sp>
        <p:nvSpPr>
          <p:cNvPr id="6" name="TextBox 5"/>
          <p:cNvSpPr txBox="1"/>
          <p:nvPr/>
        </p:nvSpPr>
        <p:spPr>
          <a:xfrm>
            <a:off x="795528" y="2578608"/>
            <a:ext cx="2240280" cy="344710"/>
          </a:xfrm>
          <a:prstGeom prst="rect">
            <a:avLst/>
          </a:prstGeom>
          <a:noFill/>
        </p:spPr>
        <p:txBody>
          <a:bodyPr wrap="square" lIns="36576" tIns="18288" rIns="36576" bIns="18288">
            <a:spAutoFit/>
          </a:bodyPr>
          <a:lstStyle/>
          <a:p>
            <a:pPr algn="ctr">
              <a:defRPr sz="2000" b="1">
                <a:solidFill>
                  <a:srgbClr val="FFFFFF"/>
                </a:solidFill>
                <a:latin typeface="Aptos"/>
              </a:defRPr>
            </a:pPr>
            <a:r>
              <a:rPr>
                <a:latin typeface="Times New Roman" panose="02020603050405020304" pitchFamily="18" charset="0"/>
                <a:cs typeface="Times New Roman" panose="02020603050405020304" pitchFamily="18" charset="0"/>
              </a:rPr>
              <a:t>166,140,000 FCFA</a:t>
            </a:r>
          </a:p>
        </p:txBody>
      </p:sp>
      <p:sp>
        <p:nvSpPr>
          <p:cNvPr id="7" name="Rounded Rectangle 6"/>
          <p:cNvSpPr/>
          <p:nvPr/>
        </p:nvSpPr>
        <p:spPr>
          <a:xfrm>
            <a:off x="3566160" y="1828800"/>
            <a:ext cx="2468880" cy="1325880"/>
          </a:xfrm>
          <a:prstGeom prst="roundRect">
            <a:avLst/>
          </a:prstGeom>
          <a:solidFill>
            <a:srgbClr val="3A7D5D"/>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3675887" y="2084831"/>
            <a:ext cx="2240280" cy="236988"/>
          </a:xfrm>
          <a:prstGeom prst="rect">
            <a:avLst/>
          </a:prstGeom>
          <a:noFill/>
        </p:spPr>
        <p:txBody>
          <a:bodyPr wrap="square" lIns="36576" tIns="18288" rIns="36576" bIns="18288">
            <a:spAutoFit/>
          </a:bodyPr>
          <a:lstStyle/>
          <a:p>
            <a:pPr algn="ctr">
              <a:defRPr sz="1300" b="1">
                <a:solidFill>
                  <a:srgbClr val="FFFFFF"/>
                </a:solidFill>
                <a:latin typeface="Aptos"/>
              </a:defRPr>
            </a:pPr>
            <a:r>
              <a:rPr>
                <a:latin typeface="Times New Roman" panose="02020603050405020304" pitchFamily="18" charset="0"/>
                <a:cs typeface="Times New Roman" panose="02020603050405020304" pitchFamily="18" charset="0"/>
              </a:rPr>
              <a:t>TOTAL QUANTITY</a:t>
            </a:r>
          </a:p>
        </p:txBody>
      </p:sp>
      <p:sp>
        <p:nvSpPr>
          <p:cNvPr id="9" name="TextBox 8"/>
          <p:cNvSpPr txBox="1"/>
          <p:nvPr/>
        </p:nvSpPr>
        <p:spPr>
          <a:xfrm>
            <a:off x="3675887" y="2578608"/>
            <a:ext cx="2240280" cy="344710"/>
          </a:xfrm>
          <a:prstGeom prst="rect">
            <a:avLst/>
          </a:prstGeom>
          <a:noFill/>
        </p:spPr>
        <p:txBody>
          <a:bodyPr wrap="square" lIns="36576" tIns="18288" rIns="36576" bIns="18288">
            <a:spAutoFit/>
          </a:bodyPr>
          <a:lstStyle/>
          <a:p>
            <a:pPr algn="ctr">
              <a:defRPr sz="2000" b="1">
                <a:solidFill>
                  <a:srgbClr val="FFFFFF"/>
                </a:solidFill>
                <a:latin typeface="Aptos"/>
              </a:defRPr>
            </a:pPr>
            <a:r>
              <a:rPr>
                <a:latin typeface="Times New Roman" panose="02020603050405020304" pitchFamily="18" charset="0"/>
                <a:cs typeface="Times New Roman" panose="02020603050405020304" pitchFamily="18" charset="0"/>
              </a:rPr>
              <a:t>598</a:t>
            </a:r>
          </a:p>
        </p:txBody>
      </p:sp>
      <p:sp>
        <p:nvSpPr>
          <p:cNvPr id="10" name="Rounded Rectangle 9"/>
          <p:cNvSpPr/>
          <p:nvPr/>
        </p:nvSpPr>
        <p:spPr>
          <a:xfrm>
            <a:off x="6446520" y="1828800"/>
            <a:ext cx="2468880" cy="1325880"/>
          </a:xfrm>
          <a:prstGeom prst="roundRect">
            <a:avLst/>
          </a:prstGeom>
          <a:solidFill>
            <a:srgbClr val="C58A2B"/>
          </a:solidFill>
          <a:ln>
            <a:solidFill>
              <a:srgbClr val="C58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6556248" y="2084831"/>
            <a:ext cx="2240280" cy="236988"/>
          </a:xfrm>
          <a:prstGeom prst="rect">
            <a:avLst/>
          </a:prstGeom>
          <a:noFill/>
        </p:spPr>
        <p:txBody>
          <a:bodyPr wrap="square" lIns="36576" tIns="18288" rIns="36576" bIns="18288">
            <a:spAutoFit/>
          </a:bodyPr>
          <a:lstStyle/>
          <a:p>
            <a:pPr algn="ctr">
              <a:defRPr sz="1300" b="1">
                <a:solidFill>
                  <a:srgbClr val="FFFFFF"/>
                </a:solidFill>
                <a:latin typeface="Aptos"/>
              </a:defRPr>
            </a:pPr>
            <a:r>
              <a:rPr dirty="0">
                <a:latin typeface="Times New Roman" panose="02020603050405020304" pitchFamily="18" charset="0"/>
                <a:cs typeface="Times New Roman" panose="02020603050405020304" pitchFamily="18" charset="0"/>
              </a:rPr>
              <a:t>UNIQUE CUSTOMERS</a:t>
            </a:r>
          </a:p>
        </p:txBody>
      </p:sp>
      <p:sp>
        <p:nvSpPr>
          <p:cNvPr id="12" name="TextBox 11"/>
          <p:cNvSpPr txBox="1"/>
          <p:nvPr/>
        </p:nvSpPr>
        <p:spPr>
          <a:xfrm>
            <a:off x="6556248" y="2578608"/>
            <a:ext cx="2240280" cy="344710"/>
          </a:xfrm>
          <a:prstGeom prst="rect">
            <a:avLst/>
          </a:prstGeom>
          <a:noFill/>
        </p:spPr>
        <p:txBody>
          <a:bodyPr wrap="square" lIns="36576" tIns="18288" rIns="36576" bIns="18288">
            <a:spAutoFit/>
          </a:bodyPr>
          <a:lstStyle/>
          <a:p>
            <a:pPr algn="ctr">
              <a:defRPr sz="2000" b="1">
                <a:solidFill>
                  <a:srgbClr val="FFFFFF"/>
                </a:solidFill>
                <a:latin typeface="Aptos"/>
              </a:defRPr>
            </a:pPr>
            <a:r>
              <a:rPr>
                <a:latin typeface="Times New Roman" panose="02020603050405020304" pitchFamily="18" charset="0"/>
                <a:cs typeface="Times New Roman" panose="02020603050405020304" pitchFamily="18" charset="0"/>
              </a:rPr>
              <a:t>12</a:t>
            </a:r>
          </a:p>
        </p:txBody>
      </p:sp>
      <p:sp>
        <p:nvSpPr>
          <p:cNvPr id="13" name="Rounded Rectangle 12"/>
          <p:cNvSpPr/>
          <p:nvPr/>
        </p:nvSpPr>
        <p:spPr>
          <a:xfrm>
            <a:off x="9326880" y="1828800"/>
            <a:ext cx="2468880" cy="1325880"/>
          </a:xfrm>
          <a:prstGeom prst="round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3"/>
          <p:cNvSpPr txBox="1"/>
          <p:nvPr/>
        </p:nvSpPr>
        <p:spPr>
          <a:xfrm>
            <a:off x="9436607" y="2084831"/>
            <a:ext cx="2240280" cy="236988"/>
          </a:xfrm>
          <a:prstGeom prst="rect">
            <a:avLst/>
          </a:prstGeom>
          <a:noFill/>
        </p:spPr>
        <p:txBody>
          <a:bodyPr wrap="square" lIns="36576" tIns="18288" rIns="36576" bIns="18288">
            <a:spAutoFit/>
          </a:bodyPr>
          <a:lstStyle/>
          <a:p>
            <a:pPr algn="ctr">
              <a:defRPr sz="1300" b="1">
                <a:solidFill>
                  <a:srgbClr val="FFFFFF"/>
                </a:solidFill>
                <a:latin typeface="Aptos"/>
              </a:defRPr>
            </a:pPr>
            <a:r>
              <a:rPr>
                <a:latin typeface="Times New Roman" panose="02020603050405020304" pitchFamily="18" charset="0"/>
                <a:cs typeface="Times New Roman" panose="02020603050405020304" pitchFamily="18" charset="0"/>
              </a:rPr>
              <a:t>INSURANCE RATE</a:t>
            </a:r>
          </a:p>
        </p:txBody>
      </p:sp>
      <p:sp>
        <p:nvSpPr>
          <p:cNvPr id="15" name="TextBox 14"/>
          <p:cNvSpPr txBox="1"/>
          <p:nvPr/>
        </p:nvSpPr>
        <p:spPr>
          <a:xfrm>
            <a:off x="9436607" y="2578608"/>
            <a:ext cx="2240280" cy="344710"/>
          </a:xfrm>
          <a:prstGeom prst="rect">
            <a:avLst/>
          </a:prstGeom>
          <a:noFill/>
        </p:spPr>
        <p:txBody>
          <a:bodyPr wrap="square" lIns="36576" tIns="18288" rIns="36576" bIns="18288">
            <a:spAutoFit/>
          </a:bodyPr>
          <a:lstStyle/>
          <a:p>
            <a:pPr algn="ctr">
              <a:defRPr sz="2000" b="1">
                <a:solidFill>
                  <a:srgbClr val="FFFFFF"/>
                </a:solidFill>
                <a:latin typeface="Aptos"/>
              </a:defRPr>
            </a:pPr>
            <a:r>
              <a:rPr>
                <a:latin typeface="Times New Roman" panose="02020603050405020304" pitchFamily="18" charset="0"/>
                <a:cs typeface="Times New Roman" panose="02020603050405020304" pitchFamily="18" charset="0"/>
              </a:rPr>
              <a:t>53.85%</a:t>
            </a:r>
          </a:p>
        </p:txBody>
      </p:sp>
      <p:sp>
        <p:nvSpPr>
          <p:cNvPr id="16" name="TextBox 15"/>
          <p:cNvSpPr txBox="1"/>
          <p:nvPr/>
        </p:nvSpPr>
        <p:spPr>
          <a:xfrm>
            <a:off x="868680" y="3977639"/>
            <a:ext cx="10424160" cy="529376"/>
          </a:xfrm>
          <a:prstGeom prst="rect">
            <a:avLst/>
          </a:prstGeom>
          <a:noFill/>
        </p:spPr>
        <p:txBody>
          <a:bodyPr wrap="square" lIns="36576" tIns="18288" rIns="36576" bIns="18288">
            <a:spAutoFit/>
          </a:bodyPr>
          <a:lstStyle/>
          <a:p>
            <a:pPr algn="l">
              <a:defRPr sz="1600" b="0">
                <a:solidFill>
                  <a:srgbClr val="526777"/>
                </a:solidFill>
                <a:latin typeface="Aptos"/>
              </a:defRPr>
            </a:pPr>
            <a:r>
              <a:rPr>
                <a:latin typeface="Times New Roman" panose="02020603050405020304" pitchFamily="18" charset="0"/>
                <a:cs typeface="Times New Roman" panose="02020603050405020304" pitchFamily="18" charset="0"/>
              </a:rPr>
              <a:t>These metrics summarize the supplied dataset; validate the cross-join logic before interpreting them as real-world transaction totals.</a:t>
            </a:r>
          </a:p>
        </p:txBody>
      </p:sp>
      <p:sp>
        <p:nvSpPr>
          <p:cNvPr id="17" name="TextBox 16"/>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square" lIns="36576" tIns="18288" rIns="36576" bIns="18288">
            <a:spAutoFit/>
          </a:bodyPr>
          <a:lstStyle/>
          <a:p>
            <a:pPr algn="l">
              <a:defRPr sz="2800" b="1">
                <a:solidFill>
                  <a:srgbClr val="17324D"/>
                </a:solidFill>
                <a:latin typeface="Aptos"/>
              </a:defRPr>
            </a:pPr>
            <a:r>
              <a:t>Product &amp; Regional Performance</a:t>
            </a:r>
          </a:p>
        </p:txBody>
      </p:sp>
      <p:sp>
        <p:nvSpPr>
          <p:cNvPr id="3" name="TextBox 2"/>
          <p:cNvSpPr txBox="1"/>
          <p:nvPr/>
        </p:nvSpPr>
        <p:spPr>
          <a:xfrm>
            <a:off x="621792" y="868680"/>
            <a:ext cx="10789920" cy="320040"/>
          </a:xfrm>
          <a:prstGeom prst="rect">
            <a:avLst/>
          </a:prstGeom>
          <a:noFill/>
        </p:spPr>
        <p:txBody>
          <a:bodyPr wrap="square" lIns="36576" tIns="18288" rIns="36576" bIns="18288">
            <a:spAutoFit/>
          </a:bodyPr>
          <a:lstStyle/>
          <a:p>
            <a:pPr algn="l">
              <a:defRPr sz="1200" b="0">
                <a:solidFill>
                  <a:srgbClr val="526777"/>
                </a:solidFill>
                <a:latin typeface="Aptos"/>
              </a:defRPr>
            </a:pPr>
            <a:r>
              <a:t>Highest recorded sales in each category</a:t>
            </a:r>
          </a:p>
        </p:txBody>
      </p:sp>
      <p:sp>
        <p:nvSpPr>
          <p:cNvPr id="24" name="TextBox 23"/>
          <p:cNvSpPr txBox="1"/>
          <p:nvPr/>
        </p:nvSpPr>
        <p:spPr>
          <a:xfrm>
            <a:off x="822960" y="5440680"/>
            <a:ext cx="10515600" cy="502920"/>
          </a:xfrm>
          <a:prstGeom prst="rect">
            <a:avLst/>
          </a:prstGeom>
          <a:noFill/>
        </p:spPr>
        <p:txBody>
          <a:bodyPr wrap="square" lIns="36576" tIns="18288" rIns="36576" bIns="18288">
            <a:spAutoFit/>
          </a:bodyPr>
          <a:lstStyle/>
          <a:p>
            <a:pPr algn="l">
              <a:defRPr sz="1600" b="1">
                <a:solidFill>
                  <a:srgbClr val="17324D"/>
                </a:solidFill>
                <a:latin typeface="Aptos"/>
              </a:defRPr>
            </a:pPr>
            <a:r>
              <a:t>Top product: Laptop (70,200,000 FCFA).  Top region: Buea (89,440,000 FCFA).</a:t>
            </a:r>
          </a:p>
        </p:txBody>
      </p:sp>
      <p:sp>
        <p:nvSpPr>
          <p:cNvPr id="25" name="TextBox 24"/>
          <p:cNvSpPr txBox="1"/>
          <p:nvPr/>
        </p:nvSpPr>
        <p:spPr>
          <a:xfrm>
            <a:off x="594360" y="6510528"/>
            <a:ext cx="10972800" cy="182880"/>
          </a:xfrm>
          <a:prstGeom prst="rect">
            <a:avLst/>
          </a:prstGeom>
          <a:noFill/>
        </p:spPr>
        <p:txBody>
          <a:bodyPr wrap="square" lIns="36576" tIns="18288" rIns="36576" bIns="18288">
            <a:spAutoFit/>
          </a:bodyPr>
          <a:lstStyle/>
          <a:p>
            <a:pPr algn="l">
              <a:defRPr sz="900" b="0">
                <a:solidFill>
                  <a:srgbClr val="526777"/>
                </a:solidFill>
                <a:latin typeface="Aptos"/>
              </a:defRPr>
            </a:pPr>
            <a:r>
              <a:t>WEEK 4 CAPSTONE  |  END-TO-END ANALYTICS                                      07</a:t>
            </a:r>
          </a:p>
        </p:txBody>
      </p:sp>
      <p:pic>
        <p:nvPicPr>
          <p:cNvPr id="27" name="Picture 26">
            <a:extLst>
              <a:ext uri="{FF2B5EF4-FFF2-40B4-BE49-F238E27FC236}">
                <a16:creationId xmlns:a16="http://schemas.microsoft.com/office/drawing/2014/main" id="{32B9DF68-32BD-C41F-1DF8-35EC47A80D87}"/>
              </a:ext>
            </a:extLst>
          </p:cNvPr>
          <p:cNvPicPr>
            <a:picLocks noChangeAspect="1"/>
          </p:cNvPicPr>
          <p:nvPr/>
        </p:nvPicPr>
        <p:blipFill>
          <a:blip r:embed="rId2"/>
          <a:stretch>
            <a:fillRect/>
          </a:stretch>
        </p:blipFill>
        <p:spPr>
          <a:xfrm>
            <a:off x="276423" y="1268078"/>
            <a:ext cx="5802038" cy="3201194"/>
          </a:xfrm>
          <a:prstGeom prst="rect">
            <a:avLst/>
          </a:prstGeom>
        </p:spPr>
      </p:pic>
      <p:pic>
        <p:nvPicPr>
          <p:cNvPr id="29" name="Picture 28">
            <a:extLst>
              <a:ext uri="{FF2B5EF4-FFF2-40B4-BE49-F238E27FC236}">
                <a16:creationId xmlns:a16="http://schemas.microsoft.com/office/drawing/2014/main" id="{D451591A-1225-5567-FC38-98E9736D67FF}"/>
              </a:ext>
            </a:extLst>
          </p:cNvPr>
          <p:cNvPicPr>
            <a:picLocks noChangeAspect="1"/>
          </p:cNvPicPr>
          <p:nvPr/>
        </p:nvPicPr>
        <p:blipFill>
          <a:blip r:embed="rId3"/>
          <a:stretch>
            <a:fillRect/>
          </a:stretch>
        </p:blipFill>
        <p:spPr>
          <a:xfrm>
            <a:off x="6267450" y="1268078"/>
            <a:ext cx="5467233" cy="32011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Sales Representatives &amp; Payment Methods</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Comparing contribution and payment mix</a:t>
            </a:r>
          </a:p>
        </p:txBody>
      </p:sp>
      <p:sp>
        <p:nvSpPr>
          <p:cNvPr id="4" name="TextBox 3"/>
          <p:cNvSpPr txBox="1"/>
          <p:nvPr/>
        </p:nvSpPr>
        <p:spPr>
          <a:xfrm>
            <a:off x="777240" y="1417320"/>
            <a:ext cx="51206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SALES BY REPRESENTATIVE</a:t>
            </a:r>
          </a:p>
        </p:txBody>
      </p:sp>
      <p:sp>
        <p:nvSpPr>
          <p:cNvPr id="5" name="TextBox 4"/>
          <p:cNvSpPr txBox="1"/>
          <p:nvPr/>
        </p:nvSpPr>
        <p:spPr>
          <a:xfrm>
            <a:off x="868680" y="1965960"/>
            <a:ext cx="1554480" cy="267766"/>
          </a:xfrm>
          <a:prstGeom prst="rect">
            <a:avLst/>
          </a:prstGeom>
          <a:noFill/>
        </p:spPr>
        <p:txBody>
          <a:bodyPr wrap="square" lIns="36576" tIns="18288" rIns="36576" bIns="18288">
            <a:spAutoFit/>
          </a:bodyPr>
          <a:lstStyle/>
          <a:p>
            <a:pPr algn="l">
              <a:defRPr sz="1500" b="1">
                <a:solidFill>
                  <a:srgbClr val="263238"/>
                </a:solidFill>
                <a:latin typeface="Aptos"/>
              </a:defRPr>
            </a:pPr>
            <a:r>
              <a:rPr>
                <a:latin typeface="Times New Roman" panose="02020603050405020304" pitchFamily="18" charset="0"/>
                <a:cs typeface="Times New Roman" panose="02020603050405020304" pitchFamily="18" charset="0"/>
              </a:rPr>
              <a:t>Sona</a:t>
            </a:r>
          </a:p>
        </p:txBody>
      </p:sp>
      <p:sp>
        <p:nvSpPr>
          <p:cNvPr id="6" name="Rectangle 5"/>
          <p:cNvSpPr/>
          <p:nvPr/>
        </p:nvSpPr>
        <p:spPr>
          <a:xfrm>
            <a:off x="2514600" y="1993391"/>
            <a:ext cx="2377440" cy="246888"/>
          </a:xfrm>
          <a:prstGeom prst="rect">
            <a:avLst/>
          </a:prstGeom>
          <a:solidFill>
            <a:srgbClr val="2F75B5"/>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5029200" y="1965960"/>
            <a:ext cx="1280160" cy="221599"/>
          </a:xfrm>
          <a:prstGeom prst="rect">
            <a:avLst/>
          </a:prstGeom>
          <a:noFill/>
        </p:spPr>
        <p:txBody>
          <a:bodyPr wrap="square" lIns="36576" tIns="18288" rIns="36576" bIns="18288">
            <a:spAutoFit/>
          </a:bodyPr>
          <a:lstStyle/>
          <a:p>
            <a:pPr algn="l">
              <a:defRPr sz="1200" b="0">
                <a:solidFill>
                  <a:srgbClr val="263238"/>
                </a:solidFill>
                <a:latin typeface="Aptos"/>
              </a:defRPr>
            </a:pPr>
            <a:r>
              <a:rPr>
                <a:latin typeface="Times New Roman" panose="02020603050405020304" pitchFamily="18" charset="0"/>
                <a:cs typeface="Times New Roman" panose="02020603050405020304" pitchFamily="18" charset="0"/>
              </a:rPr>
              <a:t>59,800,000</a:t>
            </a:r>
          </a:p>
        </p:txBody>
      </p:sp>
      <p:sp>
        <p:nvSpPr>
          <p:cNvPr id="8" name="TextBox 7"/>
          <p:cNvSpPr txBox="1"/>
          <p:nvPr/>
        </p:nvSpPr>
        <p:spPr>
          <a:xfrm>
            <a:off x="868680" y="2697480"/>
            <a:ext cx="1554480" cy="267766"/>
          </a:xfrm>
          <a:prstGeom prst="rect">
            <a:avLst/>
          </a:prstGeom>
          <a:noFill/>
        </p:spPr>
        <p:txBody>
          <a:bodyPr wrap="square" lIns="36576" tIns="18288" rIns="36576" bIns="18288">
            <a:spAutoFit/>
          </a:bodyPr>
          <a:lstStyle/>
          <a:p>
            <a:pPr algn="l">
              <a:defRPr sz="1500" b="1">
                <a:solidFill>
                  <a:srgbClr val="263238"/>
                </a:solidFill>
                <a:latin typeface="Aptos"/>
              </a:defRPr>
            </a:pPr>
            <a:r>
              <a:rPr>
                <a:latin typeface="Times New Roman" panose="02020603050405020304" pitchFamily="18" charset="0"/>
                <a:cs typeface="Times New Roman" panose="02020603050405020304" pitchFamily="18" charset="0"/>
              </a:rPr>
              <a:t>Kevin</a:t>
            </a:r>
          </a:p>
        </p:txBody>
      </p:sp>
      <p:sp>
        <p:nvSpPr>
          <p:cNvPr id="9" name="Rectangle 8"/>
          <p:cNvSpPr/>
          <p:nvPr/>
        </p:nvSpPr>
        <p:spPr>
          <a:xfrm>
            <a:off x="2514600" y="2724912"/>
            <a:ext cx="2274073" cy="246888"/>
          </a:xfrm>
          <a:prstGeom prst="rect">
            <a:avLst/>
          </a:prstGeom>
          <a:solidFill>
            <a:srgbClr val="2F75B5"/>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5029200" y="2697480"/>
            <a:ext cx="1280160" cy="221599"/>
          </a:xfrm>
          <a:prstGeom prst="rect">
            <a:avLst/>
          </a:prstGeom>
          <a:noFill/>
        </p:spPr>
        <p:txBody>
          <a:bodyPr wrap="square" lIns="36576" tIns="18288" rIns="36576" bIns="18288">
            <a:spAutoFit/>
          </a:bodyPr>
          <a:lstStyle/>
          <a:p>
            <a:pPr algn="l">
              <a:defRPr sz="1200" b="0">
                <a:solidFill>
                  <a:srgbClr val="263238"/>
                </a:solidFill>
                <a:latin typeface="Aptos"/>
              </a:defRPr>
            </a:pPr>
            <a:r>
              <a:rPr>
                <a:latin typeface="Times New Roman" panose="02020603050405020304" pitchFamily="18" charset="0"/>
                <a:cs typeface="Times New Roman" panose="02020603050405020304" pitchFamily="18" charset="0"/>
              </a:rPr>
              <a:t>57,200,000</a:t>
            </a:r>
          </a:p>
        </p:txBody>
      </p:sp>
      <p:sp>
        <p:nvSpPr>
          <p:cNvPr id="11" name="TextBox 10"/>
          <p:cNvSpPr txBox="1"/>
          <p:nvPr/>
        </p:nvSpPr>
        <p:spPr>
          <a:xfrm>
            <a:off x="868680" y="3429000"/>
            <a:ext cx="1554480" cy="267766"/>
          </a:xfrm>
          <a:prstGeom prst="rect">
            <a:avLst/>
          </a:prstGeom>
          <a:noFill/>
        </p:spPr>
        <p:txBody>
          <a:bodyPr wrap="square" lIns="36576" tIns="18288" rIns="36576" bIns="18288">
            <a:spAutoFit/>
          </a:bodyPr>
          <a:lstStyle/>
          <a:p>
            <a:pPr algn="l">
              <a:defRPr sz="1500" b="1">
                <a:solidFill>
                  <a:srgbClr val="263238"/>
                </a:solidFill>
                <a:latin typeface="Aptos"/>
              </a:defRPr>
            </a:pPr>
            <a:r>
              <a:rPr>
                <a:latin typeface="Times New Roman" panose="02020603050405020304" pitchFamily="18" charset="0"/>
                <a:cs typeface="Times New Roman" panose="02020603050405020304" pitchFamily="18" charset="0"/>
              </a:rPr>
              <a:t>Marlyse</a:t>
            </a:r>
          </a:p>
        </p:txBody>
      </p:sp>
      <p:sp>
        <p:nvSpPr>
          <p:cNvPr id="12" name="Rectangle 11"/>
          <p:cNvSpPr/>
          <p:nvPr/>
        </p:nvSpPr>
        <p:spPr>
          <a:xfrm>
            <a:off x="2514600" y="3456432"/>
            <a:ext cx="1953635" cy="246888"/>
          </a:xfrm>
          <a:prstGeom prst="rect">
            <a:avLst/>
          </a:prstGeom>
          <a:solidFill>
            <a:srgbClr val="2F75B5"/>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TextBox 12"/>
          <p:cNvSpPr txBox="1"/>
          <p:nvPr/>
        </p:nvSpPr>
        <p:spPr>
          <a:xfrm>
            <a:off x="5029200" y="3429000"/>
            <a:ext cx="1280160" cy="221599"/>
          </a:xfrm>
          <a:prstGeom prst="rect">
            <a:avLst/>
          </a:prstGeom>
          <a:noFill/>
        </p:spPr>
        <p:txBody>
          <a:bodyPr wrap="square" lIns="36576" tIns="18288" rIns="36576" bIns="18288">
            <a:spAutoFit/>
          </a:bodyPr>
          <a:lstStyle/>
          <a:p>
            <a:pPr algn="l">
              <a:defRPr sz="1200" b="0">
                <a:solidFill>
                  <a:srgbClr val="263238"/>
                </a:solidFill>
                <a:latin typeface="Aptos"/>
              </a:defRPr>
            </a:pPr>
            <a:r>
              <a:rPr>
                <a:latin typeface="Times New Roman" panose="02020603050405020304" pitchFamily="18" charset="0"/>
                <a:cs typeface="Times New Roman" panose="02020603050405020304" pitchFamily="18" charset="0"/>
              </a:rPr>
              <a:t>49,140,000</a:t>
            </a:r>
          </a:p>
        </p:txBody>
      </p:sp>
      <p:sp>
        <p:nvSpPr>
          <p:cNvPr id="14" name="TextBox 13"/>
          <p:cNvSpPr txBox="1"/>
          <p:nvPr/>
        </p:nvSpPr>
        <p:spPr>
          <a:xfrm>
            <a:off x="6400800" y="1417320"/>
            <a:ext cx="5120640" cy="298543"/>
          </a:xfrm>
          <a:prstGeom prst="rect">
            <a:avLst/>
          </a:prstGeom>
          <a:noFill/>
        </p:spPr>
        <p:txBody>
          <a:bodyPr wrap="square" lIns="36576" tIns="18288" rIns="36576" bIns="18288">
            <a:spAutoFit/>
          </a:bodyPr>
          <a:lstStyle/>
          <a:p>
            <a:pPr algn="l">
              <a:defRPr sz="1700" b="1">
                <a:solidFill>
                  <a:srgbClr val="17324D"/>
                </a:solidFill>
                <a:latin typeface="Aptos"/>
              </a:defRPr>
            </a:pPr>
            <a:r>
              <a:rPr>
                <a:latin typeface="Times New Roman" panose="02020603050405020304" pitchFamily="18" charset="0"/>
                <a:cs typeface="Times New Roman" panose="02020603050405020304" pitchFamily="18" charset="0"/>
              </a:rPr>
              <a:t>SALES BY PAYMENT METHOD</a:t>
            </a:r>
          </a:p>
        </p:txBody>
      </p:sp>
      <p:sp>
        <p:nvSpPr>
          <p:cNvPr id="15" name="TextBox 14"/>
          <p:cNvSpPr txBox="1"/>
          <p:nvPr/>
        </p:nvSpPr>
        <p:spPr>
          <a:xfrm>
            <a:off x="6492240" y="1965960"/>
            <a:ext cx="1920240" cy="252377"/>
          </a:xfrm>
          <a:prstGeom prst="rect">
            <a:avLst/>
          </a:prstGeom>
          <a:noFill/>
        </p:spPr>
        <p:txBody>
          <a:bodyPr wrap="square" lIns="36576" tIns="18288" rIns="36576" bIns="18288">
            <a:spAutoFit/>
          </a:bodyPr>
          <a:lstStyle/>
          <a:p>
            <a:pPr algn="l">
              <a:defRPr sz="1400" b="1">
                <a:solidFill>
                  <a:srgbClr val="263238"/>
                </a:solidFill>
                <a:latin typeface="Aptos"/>
              </a:defRPr>
            </a:pPr>
            <a:r>
              <a:rPr>
                <a:latin typeface="Times New Roman" panose="02020603050405020304" pitchFamily="18" charset="0"/>
                <a:cs typeface="Times New Roman" panose="02020603050405020304" pitchFamily="18" charset="0"/>
              </a:rPr>
              <a:t>Mobile Money</a:t>
            </a:r>
          </a:p>
        </p:txBody>
      </p:sp>
      <p:sp>
        <p:nvSpPr>
          <p:cNvPr id="16" name="Rectangle 15"/>
          <p:cNvSpPr/>
          <p:nvPr/>
        </p:nvSpPr>
        <p:spPr>
          <a:xfrm>
            <a:off x="8412480" y="1993391"/>
            <a:ext cx="1828800" cy="246888"/>
          </a:xfrm>
          <a:prstGeom prst="rect">
            <a:avLst/>
          </a:prstGeom>
          <a:solidFill>
            <a:srgbClr val="3A7D5D"/>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6"/>
          <p:cNvSpPr txBox="1"/>
          <p:nvPr/>
        </p:nvSpPr>
        <p:spPr>
          <a:xfrm>
            <a:off x="10378440" y="1965960"/>
            <a:ext cx="1234440" cy="206210"/>
          </a:xfrm>
          <a:prstGeom prst="rect">
            <a:avLst/>
          </a:prstGeom>
          <a:noFill/>
        </p:spPr>
        <p:txBody>
          <a:bodyPr wrap="square" lIns="36576" tIns="18288" rIns="36576" bIns="18288">
            <a:spAutoFit/>
          </a:bodyPr>
          <a:lstStyle/>
          <a:p>
            <a:pPr algn="l">
              <a:defRPr sz="1100" b="0">
                <a:solidFill>
                  <a:srgbClr val="263238"/>
                </a:solidFill>
                <a:latin typeface="Aptos"/>
              </a:defRPr>
            </a:pPr>
            <a:r>
              <a:rPr>
                <a:latin typeface="Times New Roman" panose="02020603050405020304" pitchFamily="18" charset="0"/>
                <a:cs typeface="Times New Roman" panose="02020603050405020304" pitchFamily="18" charset="0"/>
              </a:rPr>
              <a:t>67,860,000</a:t>
            </a:r>
          </a:p>
        </p:txBody>
      </p:sp>
      <p:sp>
        <p:nvSpPr>
          <p:cNvPr id="18" name="TextBox 17"/>
          <p:cNvSpPr txBox="1"/>
          <p:nvPr/>
        </p:nvSpPr>
        <p:spPr>
          <a:xfrm>
            <a:off x="6492240" y="2697480"/>
            <a:ext cx="1920240" cy="252377"/>
          </a:xfrm>
          <a:prstGeom prst="rect">
            <a:avLst/>
          </a:prstGeom>
          <a:noFill/>
        </p:spPr>
        <p:txBody>
          <a:bodyPr wrap="square" lIns="36576" tIns="18288" rIns="36576" bIns="18288">
            <a:spAutoFit/>
          </a:bodyPr>
          <a:lstStyle/>
          <a:p>
            <a:pPr algn="l">
              <a:defRPr sz="1400" b="1">
                <a:solidFill>
                  <a:srgbClr val="263238"/>
                </a:solidFill>
                <a:latin typeface="Aptos"/>
              </a:defRPr>
            </a:pPr>
            <a:r>
              <a:rPr>
                <a:latin typeface="Times New Roman" panose="02020603050405020304" pitchFamily="18" charset="0"/>
                <a:cs typeface="Times New Roman" panose="02020603050405020304" pitchFamily="18" charset="0"/>
              </a:rPr>
              <a:t>Cash</a:t>
            </a:r>
          </a:p>
        </p:txBody>
      </p:sp>
      <p:sp>
        <p:nvSpPr>
          <p:cNvPr id="19" name="Rectangle 18"/>
          <p:cNvSpPr/>
          <p:nvPr/>
        </p:nvSpPr>
        <p:spPr>
          <a:xfrm>
            <a:off x="8412480" y="2724912"/>
            <a:ext cx="1576551" cy="246888"/>
          </a:xfrm>
          <a:prstGeom prst="rect">
            <a:avLst/>
          </a:prstGeom>
          <a:solidFill>
            <a:srgbClr val="3A7D5D"/>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10378440" y="2697480"/>
            <a:ext cx="1234440" cy="206210"/>
          </a:xfrm>
          <a:prstGeom prst="rect">
            <a:avLst/>
          </a:prstGeom>
          <a:noFill/>
        </p:spPr>
        <p:txBody>
          <a:bodyPr wrap="square" lIns="36576" tIns="18288" rIns="36576" bIns="18288">
            <a:spAutoFit/>
          </a:bodyPr>
          <a:lstStyle/>
          <a:p>
            <a:pPr algn="l">
              <a:defRPr sz="1100" b="0">
                <a:solidFill>
                  <a:srgbClr val="263238"/>
                </a:solidFill>
                <a:latin typeface="Aptos"/>
              </a:defRPr>
            </a:pPr>
            <a:r>
              <a:rPr>
                <a:latin typeface="Times New Roman" panose="02020603050405020304" pitchFamily="18" charset="0"/>
                <a:cs typeface="Times New Roman" panose="02020603050405020304" pitchFamily="18" charset="0"/>
              </a:rPr>
              <a:t>58,500,000</a:t>
            </a:r>
          </a:p>
        </p:txBody>
      </p:sp>
      <p:sp>
        <p:nvSpPr>
          <p:cNvPr id="21" name="TextBox 20"/>
          <p:cNvSpPr txBox="1"/>
          <p:nvPr/>
        </p:nvSpPr>
        <p:spPr>
          <a:xfrm>
            <a:off x="6492240" y="3429000"/>
            <a:ext cx="1920240" cy="252377"/>
          </a:xfrm>
          <a:prstGeom prst="rect">
            <a:avLst/>
          </a:prstGeom>
          <a:noFill/>
        </p:spPr>
        <p:txBody>
          <a:bodyPr wrap="square" lIns="36576" tIns="18288" rIns="36576" bIns="18288">
            <a:spAutoFit/>
          </a:bodyPr>
          <a:lstStyle/>
          <a:p>
            <a:pPr algn="l">
              <a:defRPr sz="1400" b="1">
                <a:solidFill>
                  <a:srgbClr val="263238"/>
                </a:solidFill>
                <a:latin typeface="Aptos"/>
              </a:defRPr>
            </a:pPr>
            <a:r>
              <a:rPr>
                <a:latin typeface="Times New Roman" panose="02020603050405020304" pitchFamily="18" charset="0"/>
                <a:cs typeface="Times New Roman" panose="02020603050405020304" pitchFamily="18" charset="0"/>
              </a:rPr>
              <a:t>Bank Transfer</a:t>
            </a:r>
          </a:p>
        </p:txBody>
      </p:sp>
      <p:sp>
        <p:nvSpPr>
          <p:cNvPr id="22" name="Rectangle 21"/>
          <p:cNvSpPr/>
          <p:nvPr/>
        </p:nvSpPr>
        <p:spPr>
          <a:xfrm>
            <a:off x="8412480" y="3456432"/>
            <a:ext cx="1072055" cy="246888"/>
          </a:xfrm>
          <a:prstGeom prst="rect">
            <a:avLst/>
          </a:prstGeom>
          <a:solidFill>
            <a:srgbClr val="3A7D5D"/>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10378440" y="3429000"/>
            <a:ext cx="1234440" cy="206210"/>
          </a:xfrm>
          <a:prstGeom prst="rect">
            <a:avLst/>
          </a:prstGeom>
          <a:noFill/>
        </p:spPr>
        <p:txBody>
          <a:bodyPr wrap="square" lIns="36576" tIns="18288" rIns="36576" bIns="18288">
            <a:spAutoFit/>
          </a:bodyPr>
          <a:lstStyle/>
          <a:p>
            <a:pPr algn="l">
              <a:defRPr sz="1100" b="0">
                <a:solidFill>
                  <a:srgbClr val="263238"/>
                </a:solidFill>
                <a:latin typeface="Aptos"/>
              </a:defRPr>
            </a:pPr>
            <a:r>
              <a:rPr>
                <a:latin typeface="Times New Roman" panose="02020603050405020304" pitchFamily="18" charset="0"/>
                <a:cs typeface="Times New Roman" panose="02020603050405020304" pitchFamily="18" charset="0"/>
              </a:rPr>
              <a:t>39,780,000</a:t>
            </a:r>
          </a:p>
        </p:txBody>
      </p:sp>
      <p:sp>
        <p:nvSpPr>
          <p:cNvPr id="24" name="TextBox 23"/>
          <p:cNvSpPr txBox="1"/>
          <p:nvPr/>
        </p:nvSpPr>
        <p:spPr>
          <a:xfrm>
            <a:off x="822960" y="5440680"/>
            <a:ext cx="10515600" cy="283154"/>
          </a:xfrm>
          <a:prstGeom prst="rect">
            <a:avLst/>
          </a:prstGeom>
          <a:noFill/>
        </p:spPr>
        <p:txBody>
          <a:bodyPr wrap="square" lIns="36576" tIns="18288" rIns="36576" bIns="18288">
            <a:spAutoFit/>
          </a:bodyPr>
          <a:lstStyle/>
          <a:p>
            <a:pPr algn="l">
              <a:defRPr sz="1600" b="1">
                <a:solidFill>
                  <a:srgbClr val="17324D"/>
                </a:solidFill>
                <a:latin typeface="Aptos"/>
              </a:defRPr>
            </a:pPr>
            <a:r>
              <a:rPr>
                <a:latin typeface="Times New Roman" panose="02020603050405020304" pitchFamily="18" charset="0"/>
                <a:cs typeface="Times New Roman" panose="02020603050405020304" pitchFamily="18" charset="0"/>
              </a:rPr>
              <a:t>Leading representative: Sona. Leading payment method: Mobile Money.</a:t>
            </a:r>
          </a:p>
        </p:txBody>
      </p:sp>
      <p:sp>
        <p:nvSpPr>
          <p:cNvPr id="25" name="TextBox 24"/>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Interactive Dashboard Design</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Suggested visuals and slicers for Power BI</a:t>
            </a:r>
          </a:p>
        </p:txBody>
      </p:sp>
      <p:sp>
        <p:nvSpPr>
          <p:cNvPr id="4" name="Rounded Rectangle 3"/>
          <p:cNvSpPr/>
          <p:nvPr/>
        </p:nvSpPr>
        <p:spPr>
          <a:xfrm>
            <a:off x="731520" y="1417320"/>
            <a:ext cx="5212080" cy="4297680"/>
          </a:xfrm>
          <a:prstGeom prst="roundRect">
            <a:avLst/>
          </a:prstGeom>
          <a:solidFill>
            <a:srgbClr val="EBF3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6217920" y="1417320"/>
            <a:ext cx="5212080" cy="4297680"/>
          </a:xfrm>
          <a:prstGeom prst="roundRect">
            <a:avLst/>
          </a:prstGeom>
          <a:solidFill>
            <a:srgbClr val="EBF6EF"/>
          </a:solidFill>
          <a:ln>
            <a:solidFill>
              <a:srgbClr val="3A7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1005840" y="1664208"/>
            <a:ext cx="4572000" cy="313932"/>
          </a:xfrm>
          <a:prstGeom prst="rect">
            <a:avLst/>
          </a:prstGeom>
          <a:noFill/>
        </p:spPr>
        <p:txBody>
          <a:bodyPr wrap="square" lIns="36576" tIns="18288" rIns="36576" bIns="18288">
            <a:spAutoFit/>
          </a:bodyPr>
          <a:lstStyle/>
          <a:p>
            <a:pPr algn="l">
              <a:defRPr sz="1800" b="1">
                <a:solidFill>
                  <a:srgbClr val="17324D"/>
                </a:solidFill>
                <a:latin typeface="Aptos"/>
              </a:defRPr>
            </a:pPr>
            <a:r>
              <a:rPr>
                <a:latin typeface="Times New Roman" panose="02020603050405020304" pitchFamily="18" charset="0"/>
                <a:cs typeface="Times New Roman" panose="02020603050405020304" pitchFamily="18" charset="0"/>
              </a:rPr>
              <a:t>VISUALS</a:t>
            </a:r>
          </a:p>
        </p:txBody>
      </p:sp>
      <p:sp>
        <p:nvSpPr>
          <p:cNvPr id="7" name="TextBox 6"/>
          <p:cNvSpPr txBox="1"/>
          <p:nvPr/>
        </p:nvSpPr>
        <p:spPr>
          <a:xfrm>
            <a:off x="1005840" y="2103120"/>
            <a:ext cx="4413885" cy="1760482"/>
          </a:xfrm>
          <a:prstGeom prst="rect">
            <a:avLst/>
          </a:prstGeom>
          <a:noFill/>
        </p:spPr>
        <p:txBody>
          <a:bodyPr wrap="square" lIns="36576" tIns="18288" rIns="36576" bIns="18288">
            <a:spAutoFit/>
          </a:bodyPr>
          <a:lstStyle/>
          <a:p>
            <a:pPr algn="l">
              <a:defRPr sz="1500" b="0">
                <a:solidFill>
                  <a:srgbClr val="263238"/>
                </a:solidFill>
                <a:latin typeface="Aptos"/>
              </a:defRPr>
            </a:pPr>
            <a:r>
              <a:rPr sz="1600" dirty="0">
                <a:latin typeface="Times New Roman" panose="02020603050405020304" pitchFamily="18" charset="0"/>
                <a:cs typeface="Times New Roman" panose="02020603050405020304" pitchFamily="18" charset="0"/>
              </a:rPr>
              <a:t>• KPI cards: Total Sales, Total Quantity, </a:t>
            </a:r>
            <a:r>
              <a:rPr lang="en-US" sz="1600" dirty="0">
                <a:latin typeface="Times New Roman" panose="02020603050405020304" pitchFamily="18" charset="0"/>
                <a:cs typeface="Times New Roman" panose="02020603050405020304" pitchFamily="18" charset="0"/>
              </a:rPr>
              <a:t>Sum of unit price</a:t>
            </a:r>
            <a:r>
              <a:rPr sz="1600" dirty="0">
                <a:latin typeface="Times New Roman" panose="02020603050405020304" pitchFamily="18" charset="0"/>
                <a:cs typeface="Times New Roman" panose="02020603050405020304" pitchFamily="18" charset="0"/>
              </a:rPr>
              <a:t>, Insurance Rate</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Total </a:t>
            </a:r>
            <a:r>
              <a:rPr sz="1600" dirty="0">
                <a:latin typeface="Times New Roman" panose="02020603050405020304" pitchFamily="18" charset="0"/>
                <a:cs typeface="Times New Roman" panose="02020603050405020304" pitchFamily="18" charset="0"/>
              </a:rPr>
              <a:t>Sales by Product (bar chart)</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Total </a:t>
            </a:r>
            <a:r>
              <a:rPr sz="1600" dirty="0">
                <a:latin typeface="Times New Roman" panose="02020603050405020304" pitchFamily="18" charset="0"/>
                <a:cs typeface="Times New Roman" panose="02020603050405020304" pitchFamily="18" charset="0"/>
              </a:rPr>
              <a:t>Sales by Region (</a:t>
            </a:r>
            <a:r>
              <a:rPr lang="en-US" sz="1600" dirty="0">
                <a:latin typeface="Times New Roman" panose="02020603050405020304" pitchFamily="18" charset="0"/>
                <a:cs typeface="Times New Roman" panose="02020603050405020304" pitchFamily="18" charset="0"/>
              </a:rPr>
              <a:t>line </a:t>
            </a:r>
            <a:r>
              <a:rPr sz="1600" dirty="0">
                <a:latin typeface="Times New Roman" panose="02020603050405020304" pitchFamily="18" charset="0"/>
                <a:cs typeface="Times New Roman" panose="02020603050405020304" pitchFamily="18" charset="0"/>
              </a:rPr>
              <a:t>chart)</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Sales by Representative (column chart)</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Payment Method (donut chart)</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Insurance Status and </a:t>
            </a:r>
            <a:r>
              <a:rPr lang="en-US" sz="1600" dirty="0">
                <a:latin typeface="Times New Roman" panose="02020603050405020304" pitchFamily="18" charset="0"/>
                <a:cs typeface="Times New Roman" panose="02020603050405020304" pitchFamily="18" charset="0"/>
              </a:rPr>
              <a:t>Age (pie chart)</a:t>
            </a:r>
            <a:endParaRPr sz="16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492240" y="1664208"/>
            <a:ext cx="4572000" cy="313932"/>
          </a:xfrm>
          <a:prstGeom prst="rect">
            <a:avLst/>
          </a:prstGeom>
          <a:noFill/>
        </p:spPr>
        <p:txBody>
          <a:bodyPr wrap="square" lIns="36576" tIns="18288" rIns="36576" bIns="18288">
            <a:spAutoFit/>
          </a:bodyPr>
          <a:lstStyle/>
          <a:p>
            <a:pPr algn="l">
              <a:defRPr sz="1800" b="1">
                <a:solidFill>
                  <a:srgbClr val="3A7D5D"/>
                </a:solidFill>
                <a:latin typeface="Aptos"/>
              </a:defRPr>
            </a:pPr>
            <a:r>
              <a:rPr>
                <a:latin typeface="Times New Roman" panose="02020603050405020304" pitchFamily="18" charset="0"/>
                <a:cs typeface="Times New Roman" panose="02020603050405020304" pitchFamily="18" charset="0"/>
              </a:rPr>
              <a:t>INTERACTIVITY</a:t>
            </a:r>
          </a:p>
        </p:txBody>
      </p:sp>
      <p:sp>
        <p:nvSpPr>
          <p:cNvPr id="9" name="TextBox 8"/>
          <p:cNvSpPr txBox="1"/>
          <p:nvPr/>
        </p:nvSpPr>
        <p:spPr>
          <a:xfrm>
            <a:off x="6492240" y="2103120"/>
            <a:ext cx="4572000" cy="1021818"/>
          </a:xfrm>
          <a:prstGeom prst="rect">
            <a:avLst/>
          </a:prstGeom>
          <a:noFill/>
        </p:spPr>
        <p:txBody>
          <a:bodyPr wrap="square" lIns="36576" tIns="18288" rIns="36576" bIns="18288">
            <a:spAutoFit/>
          </a:bodyPr>
          <a:lstStyle/>
          <a:p>
            <a:pPr algn="l">
              <a:defRPr sz="1500" b="0">
                <a:solidFill>
                  <a:srgbClr val="263238"/>
                </a:solidFill>
                <a:latin typeface="Aptos"/>
              </a:defRPr>
            </a:pPr>
            <a:r>
              <a:rPr sz="1600" dirty="0">
                <a:latin typeface="Times New Roman" panose="02020603050405020304" pitchFamily="18" charset="0"/>
                <a:cs typeface="Times New Roman" panose="02020603050405020304" pitchFamily="18" charset="0"/>
              </a:rPr>
              <a:t>• Slicers: Region</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Slicers: Payment Method</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Slicers: Sales Representative</a:t>
            </a:r>
            <a:br>
              <a:rPr sz="1600" dirty="0">
                <a:latin typeface="Times New Roman" panose="02020603050405020304" pitchFamily="18" charset="0"/>
                <a:cs typeface="Times New Roman" panose="02020603050405020304" pitchFamily="18" charset="0"/>
              </a:rPr>
            </a:br>
            <a:r>
              <a:rPr sz="1600" dirty="0">
                <a:latin typeface="Times New Roman" panose="02020603050405020304" pitchFamily="18" charset="0"/>
                <a:cs typeface="Times New Roman" panose="02020603050405020304" pitchFamily="18" charset="0"/>
              </a:rPr>
              <a:t>• Use Edit interactions so slicers filter relevant visuals</a:t>
            </a:r>
          </a:p>
        </p:txBody>
      </p:sp>
      <p:sp>
        <p:nvSpPr>
          <p:cNvPr id="10" name="TextBox 9"/>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467820"/>
          </a:xfrm>
          <a:prstGeom prst="rect">
            <a:avLst/>
          </a:prstGeom>
          <a:noFill/>
        </p:spPr>
        <p:txBody>
          <a:bodyPr wrap="square" lIns="36576" tIns="18288" rIns="36576" bIns="18288">
            <a:spAutoFit/>
          </a:bodyPr>
          <a:lstStyle/>
          <a:p>
            <a:pPr algn="l">
              <a:defRPr sz="2800" b="1">
                <a:solidFill>
                  <a:srgbClr val="17324D"/>
                </a:solidFill>
                <a:latin typeface="Aptos"/>
              </a:defRPr>
            </a:pPr>
            <a:r>
              <a:rPr>
                <a:latin typeface="Times New Roman" panose="02020603050405020304" pitchFamily="18" charset="0"/>
                <a:cs typeface="Times New Roman" panose="02020603050405020304" pitchFamily="18" charset="0"/>
              </a:rPr>
              <a:t>Key Findings &amp; Recommendations</a:t>
            </a:r>
          </a:p>
        </p:txBody>
      </p:sp>
      <p:sp>
        <p:nvSpPr>
          <p:cNvPr id="3" name="TextBox 2"/>
          <p:cNvSpPr txBox="1"/>
          <p:nvPr/>
        </p:nvSpPr>
        <p:spPr>
          <a:xfrm>
            <a:off x="621792" y="868680"/>
            <a:ext cx="10789920" cy="221599"/>
          </a:xfrm>
          <a:prstGeom prst="rect">
            <a:avLst/>
          </a:prstGeom>
          <a:noFill/>
        </p:spPr>
        <p:txBody>
          <a:bodyPr wrap="square" lIns="36576" tIns="18288" rIns="36576" bIns="18288">
            <a:spAutoFit/>
          </a:bodyPr>
          <a:lstStyle/>
          <a:p>
            <a:pPr algn="l">
              <a:defRPr sz="1200" b="0">
                <a:solidFill>
                  <a:srgbClr val="526777"/>
                </a:solidFill>
                <a:latin typeface="Aptos"/>
              </a:defRPr>
            </a:pPr>
            <a:r>
              <a:rPr>
                <a:latin typeface="Times New Roman" panose="02020603050405020304" pitchFamily="18" charset="0"/>
                <a:cs typeface="Times New Roman" panose="02020603050405020304" pitchFamily="18" charset="0"/>
              </a:rPr>
              <a:t>What the analysis suggests</a:t>
            </a:r>
          </a:p>
        </p:txBody>
      </p:sp>
      <p:sp>
        <p:nvSpPr>
          <p:cNvPr id="4" name="TextBox 3"/>
          <p:cNvSpPr txBox="1"/>
          <p:nvPr/>
        </p:nvSpPr>
        <p:spPr>
          <a:xfrm>
            <a:off x="822960" y="1508760"/>
            <a:ext cx="10698480" cy="2687915"/>
          </a:xfrm>
          <a:prstGeom prst="rect">
            <a:avLst/>
          </a:prstGeom>
          <a:noFill/>
        </p:spPr>
        <p:txBody>
          <a:bodyPr wrap="square" lIns="73152" rIns="73152">
            <a:spAutoFit/>
          </a:bodyPr>
          <a:lstStyle/>
          <a:p>
            <a:pPr>
              <a:spcAft>
                <a:spcPts val="1600"/>
              </a:spcAft>
              <a:defRPr sz="1700">
                <a:solidFill>
                  <a:srgbClr val="263238"/>
                </a:solidFill>
                <a:latin typeface="Aptos"/>
              </a:defRPr>
            </a:pPr>
            <a:r>
              <a:rPr>
                <a:latin typeface="Times New Roman" panose="02020603050405020304" pitchFamily="18" charset="0"/>
                <a:cs typeface="Times New Roman" panose="02020603050405020304" pitchFamily="18" charset="0"/>
              </a:rPr>
              <a:t>•  Laptop has the highest recorded product sales (70,200,000 FCFA).</a:t>
            </a:r>
          </a:p>
          <a:p>
            <a:pPr>
              <a:spcAft>
                <a:spcPts val="1600"/>
              </a:spcAft>
              <a:defRPr sz="1700">
                <a:solidFill>
                  <a:srgbClr val="263238"/>
                </a:solidFill>
                <a:latin typeface="Aptos"/>
              </a:defRPr>
            </a:pPr>
            <a:r>
              <a:rPr>
                <a:latin typeface="Times New Roman" panose="02020603050405020304" pitchFamily="18" charset="0"/>
                <a:cs typeface="Times New Roman" panose="02020603050405020304" pitchFamily="18" charset="0"/>
              </a:rPr>
              <a:t>•  Buea is the highest recorded region (89,440,000 FCFA).</a:t>
            </a:r>
          </a:p>
          <a:p>
            <a:pPr>
              <a:spcAft>
                <a:spcPts val="1600"/>
              </a:spcAft>
              <a:defRPr sz="1700">
                <a:solidFill>
                  <a:srgbClr val="263238"/>
                </a:solidFill>
                <a:latin typeface="Aptos"/>
              </a:defRPr>
            </a:pPr>
            <a:r>
              <a:rPr>
                <a:latin typeface="Times New Roman" panose="02020603050405020304" pitchFamily="18" charset="0"/>
                <a:cs typeface="Times New Roman" panose="02020603050405020304" pitchFamily="18" charset="0"/>
              </a:rPr>
              <a:t>•  Sona has the highest recorded sales by representative (59,800,000 FCFA).</a:t>
            </a:r>
          </a:p>
          <a:p>
            <a:pPr>
              <a:spcAft>
                <a:spcPts val="1600"/>
              </a:spcAft>
              <a:defRPr sz="1700">
                <a:solidFill>
                  <a:srgbClr val="263238"/>
                </a:solidFill>
                <a:latin typeface="Aptos"/>
              </a:defRPr>
            </a:pPr>
            <a:r>
              <a:rPr>
                <a:latin typeface="Times New Roman" panose="02020603050405020304" pitchFamily="18" charset="0"/>
                <a:cs typeface="Times New Roman" panose="02020603050405020304" pitchFamily="18" charset="0"/>
              </a:rPr>
              <a:t>•  Mobile Money is the most common revenue source by payment method (67,860,000 FCFA).</a:t>
            </a:r>
          </a:p>
          <a:p>
            <a:pPr>
              <a:spcAft>
                <a:spcPts val="1600"/>
              </a:spcAft>
              <a:defRPr sz="1700">
                <a:solidFill>
                  <a:srgbClr val="263238"/>
                </a:solidFill>
                <a:latin typeface="Aptos"/>
              </a:defRPr>
            </a:pPr>
            <a:r>
              <a:rPr>
                <a:latin typeface="Times New Roman" panose="02020603050405020304" pitchFamily="18" charset="0"/>
                <a:cs typeface="Times New Roman" panose="02020603050405020304" pitchFamily="18" charset="0"/>
              </a:rPr>
              <a:t>•  Validate the cross join and source-data relationships before making operational decisions.</a:t>
            </a:r>
          </a:p>
          <a:p>
            <a:pPr>
              <a:spcAft>
                <a:spcPts val="1600"/>
              </a:spcAft>
              <a:defRPr sz="1700">
                <a:solidFill>
                  <a:srgbClr val="263238"/>
                </a:solidFill>
                <a:latin typeface="Aptos"/>
              </a:defRPr>
            </a:pPr>
            <a:r>
              <a:rPr>
                <a:latin typeface="Times New Roman" panose="02020603050405020304" pitchFamily="18" charset="0"/>
                <a:cs typeface="Times New Roman" panose="02020603050405020304" pitchFamily="18" charset="0"/>
              </a:rPr>
              <a:t>•  Document row counts before and after cleaning and review missing values before dropping records.</a:t>
            </a:r>
          </a:p>
        </p:txBody>
      </p:sp>
      <p:sp>
        <p:nvSpPr>
          <p:cNvPr id="5" name="TextBox 4"/>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TextBox 1"/>
          <p:cNvSpPr txBox="1"/>
          <p:nvPr/>
        </p:nvSpPr>
        <p:spPr>
          <a:xfrm>
            <a:off x="822960" y="731520"/>
            <a:ext cx="4572000" cy="344710"/>
          </a:xfrm>
          <a:prstGeom prst="rect">
            <a:avLst/>
          </a:prstGeom>
          <a:noFill/>
        </p:spPr>
        <p:txBody>
          <a:bodyPr wrap="square" lIns="36576" tIns="18288" rIns="36576" bIns="18288">
            <a:spAutoFit/>
          </a:bodyPr>
          <a:lstStyle/>
          <a:p>
            <a:pPr algn="l">
              <a:defRPr sz="1600" b="1">
                <a:solidFill>
                  <a:srgbClr val="96CAE8"/>
                </a:solidFill>
                <a:latin typeface="Aptos"/>
              </a:defRPr>
            </a:pPr>
            <a:r>
              <a:rPr sz="2000" dirty="0">
                <a:latin typeface="Times New Roman" panose="02020603050405020304" pitchFamily="18" charset="0"/>
                <a:cs typeface="Times New Roman" panose="02020603050405020304" pitchFamily="18" charset="0"/>
              </a:rPr>
              <a:t>CONCLUSION</a:t>
            </a:r>
          </a:p>
        </p:txBody>
      </p:sp>
      <p:sp>
        <p:nvSpPr>
          <p:cNvPr id="3" name="TextBox 2"/>
          <p:cNvSpPr txBox="1"/>
          <p:nvPr/>
        </p:nvSpPr>
        <p:spPr>
          <a:xfrm>
            <a:off x="822960" y="1371600"/>
            <a:ext cx="10515600" cy="498598"/>
          </a:xfrm>
          <a:prstGeom prst="rect">
            <a:avLst/>
          </a:prstGeom>
          <a:noFill/>
        </p:spPr>
        <p:txBody>
          <a:bodyPr wrap="square" lIns="36576" tIns="18288" rIns="36576" bIns="18288">
            <a:spAutoFit/>
          </a:bodyPr>
          <a:lstStyle/>
          <a:p>
            <a:pPr algn="l">
              <a:defRPr sz="3000" b="1">
                <a:solidFill>
                  <a:srgbClr val="FFFFFF"/>
                </a:solidFill>
                <a:latin typeface="Aptos"/>
              </a:defRPr>
            </a:pPr>
            <a:r>
              <a:rPr dirty="0">
                <a:latin typeface="Times New Roman" panose="02020603050405020304" pitchFamily="18" charset="0"/>
                <a:cs typeface="Times New Roman" panose="02020603050405020304" pitchFamily="18" charset="0"/>
              </a:rPr>
              <a:t>From raw data to business insight</a:t>
            </a:r>
          </a:p>
        </p:txBody>
      </p:sp>
      <p:sp>
        <p:nvSpPr>
          <p:cNvPr id="4" name="TextBox 3"/>
          <p:cNvSpPr txBox="1"/>
          <p:nvPr/>
        </p:nvSpPr>
        <p:spPr>
          <a:xfrm>
            <a:off x="868680" y="2514600"/>
            <a:ext cx="10332720" cy="960263"/>
          </a:xfrm>
          <a:prstGeom prst="rect">
            <a:avLst/>
          </a:prstGeom>
          <a:noFill/>
        </p:spPr>
        <p:txBody>
          <a:bodyPr wrap="square" lIns="36576" tIns="18288" rIns="36576" bIns="18288">
            <a:spAutoFit/>
          </a:bodyPr>
          <a:lstStyle/>
          <a:p>
            <a:pPr algn="l">
              <a:defRPr sz="2000" b="0">
                <a:solidFill>
                  <a:srgbClr val="DCE9F2"/>
                </a:solidFill>
                <a:latin typeface="Aptos"/>
              </a:defRPr>
            </a:pPr>
            <a:r>
              <a:rPr>
                <a:latin typeface="Times New Roman" panose="02020603050405020304" pitchFamily="18" charset="0"/>
                <a:cs typeface="Times New Roman" panose="02020603050405020304" pitchFamily="18" charset="0"/>
              </a:rPr>
              <a:t>The project demonstrates source loading, integration, quality checks, reusable cleaning, export, KPI analysis and dashboard planning. The next step is to validate the join logic and save the final interactive report from Power BI Desktop.</a:t>
            </a:r>
          </a:p>
        </p:txBody>
      </p:sp>
      <p:sp>
        <p:nvSpPr>
          <p:cNvPr id="5" name="TextBox 4"/>
          <p:cNvSpPr txBox="1"/>
          <p:nvPr/>
        </p:nvSpPr>
        <p:spPr>
          <a:xfrm>
            <a:off x="868680" y="4937760"/>
            <a:ext cx="4572000" cy="406265"/>
          </a:xfrm>
          <a:prstGeom prst="rect">
            <a:avLst/>
          </a:prstGeom>
          <a:noFill/>
        </p:spPr>
        <p:txBody>
          <a:bodyPr wrap="square" lIns="36576" tIns="18288" rIns="36576" bIns="18288">
            <a:spAutoFit/>
          </a:bodyPr>
          <a:lstStyle/>
          <a:p>
            <a:pPr algn="l">
              <a:defRPr sz="2400" b="1">
                <a:solidFill>
                  <a:srgbClr val="FFFFFF"/>
                </a:solidFill>
                <a:latin typeface="Aptos"/>
              </a:defRPr>
            </a:pPr>
            <a:r>
              <a:rPr>
                <a:latin typeface="Times New Roman" panose="02020603050405020304" pitchFamily="18" charset="0"/>
                <a:cs typeface="Times New Roman" panose="02020603050405020304" pitchFamily="18" charset="0"/>
              </a:rPr>
              <a:t>Thank you</a:t>
            </a:r>
          </a:p>
        </p:txBody>
      </p:sp>
      <p:sp>
        <p:nvSpPr>
          <p:cNvPr id="6" name="TextBox 5"/>
          <p:cNvSpPr txBox="1"/>
          <p:nvPr/>
        </p:nvSpPr>
        <p:spPr>
          <a:xfrm>
            <a:off x="594360" y="6510528"/>
            <a:ext cx="10972800" cy="175433"/>
          </a:xfrm>
          <a:prstGeom prst="rect">
            <a:avLst/>
          </a:prstGeom>
          <a:noFill/>
        </p:spPr>
        <p:txBody>
          <a:bodyPr wrap="square" lIns="36576" tIns="18288" rIns="36576" bIns="18288">
            <a:spAutoFit/>
          </a:bodyPr>
          <a:lstStyle/>
          <a:p>
            <a:pPr algn="l">
              <a:defRPr sz="900" b="0">
                <a:solidFill>
                  <a:srgbClr val="526777"/>
                </a:solidFill>
                <a:latin typeface="Aptos"/>
              </a:defRPr>
            </a:pPr>
            <a:r>
              <a:rPr>
                <a:latin typeface="Times New Roman" panose="02020603050405020304" pitchFamily="18" charset="0"/>
                <a:cs typeface="Times New Roman" panose="02020603050405020304" pitchFamily="18" charset="0"/>
              </a:rPr>
              <a:t>WEEK 4 CAPSTONE  |  END-TO-END ANALYTICS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TotalTime>
  <Words>732</Words>
  <Application>Microsoft Office PowerPoint</Application>
  <PresentationFormat>Widescreen</PresentationFormat>
  <Paragraphs>117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sona marlyse</cp:lastModifiedBy>
  <cp:revision>3</cp:revision>
  <dcterms:created xsi:type="dcterms:W3CDTF">2013-01-27T09:14:16Z</dcterms:created>
  <dcterms:modified xsi:type="dcterms:W3CDTF">2026-10-09T20:57:27Z</dcterms:modified>
  <cp:category/>
</cp:coreProperties>
</file>